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 · Introducción (Benjamin)" id="{EB40E988-B222-4DD1-8D49-14386DCFEEA1}">
          <p14:sldIdLst>
            <p14:sldId id="256"/>
            <p14:sldId id="257"/>
            <p14:sldId id="258"/>
            <p14:sldId id="259"/>
          </p14:sldIdLst>
        </p14:section>
        <p14:section name="2 · Alcance (Edwin)" id="{A0BFF4BD-C8CD-4911-84CC-2DF81B23BDBD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3 · Investigación y diseño (Dana)" id="{012C701C-67DB-4B4D-87DE-CE49AC180118}">
          <p14:sldIdLst>
            <p14:sldId id="266"/>
            <p14:sldId id="267"/>
            <p14:sldId id="268"/>
            <p14:sldId id="269"/>
            <p14:sldId id="270"/>
          </p14:sldIdLst>
        </p14:section>
        <p14:section name="4 · Maqueta y validación (Alvaro)" id="{5C4E0C87-ECB5-4693-A454-3583C95CA142}">
          <p14:sldIdLst>
            <p14:sldId id="271"/>
            <p14:sldId id="272"/>
            <p14:sldId id="273"/>
            <p14:sldId id="274"/>
          </p14:sldIdLst>
        </p14:section>
        <p14:section name="5 · Cierre (Benjamin)" id="{D946B7A8-F0D9-4C7C-BE66-37514D9F3F48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241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6147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[BENJAMIN · 30 s]</a:t>
            </a:r>
          </a:p>
          <a:p>
            <a:r>
              <a:t>Buenos días. Somos el Equipo 05 y les presentamos MediAgenda, un sistema web de citas médicas pensado para las Clínicas Minimed, aquí en Ciudad de Panamá.</a:t>
            </a:r>
          </a:p>
          <a:p>
            <a:r>
              <a:t>En esta entrega cubrimos el Hito 1: la propuesta, el alcance, la investigación de campo, los wireframes, la guía de estilo y la maqueta en HTML5 y CSS3.</a:t>
            </a:r>
          </a:p>
          <a:p>
            <a:r>
              <a:t>Transición: "Primero, les presento al equipo y cómo nos vamos a repartir la presentación".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[BENJAMIN · 45 s]</a:t>
            </a:r>
          </a:p>
          <a:p>
            <a:r>
              <a:t>Somos cuatro integrantes. Yo, Benjamin, soy el líder del proyecto y me encargué del desarrollo HTML y CSS. Edwin llevó la documentación. Dana y Alvaro se encargaron de la calidad y de la validación con el W3C.</a:t>
            </a:r>
          </a:p>
          <a:p>
            <a:r>
              <a:t>Así nos repartimos hoy: yo abro con el problema y la propuesta; Edwin explica el alcance del sistema; Dana presenta la investigación de campo y el diseño; y Alvaro muestra la maqueta y su validación. Al final cierro con los próximos pasos y abrimos preguntas.</a:t>
            </a:r>
          </a:p>
          <a:p>
            <a:r>
              <a:t>Transición: "Empecemos por el problema que queremos resolver".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[BENJAMIN · 1 min]</a:t>
            </a:r>
          </a:p>
          <a:p>
            <a:r>
              <a:t>Hoy en las clínicas Minimed las citas se agendan en papel o de forma presencial. Eso trae tres problemas:</a:t>
            </a:r>
          </a:p>
          <a:p>
            <a:r>
              <a:t>1) La agenda vive en libretas: un error de escritura o una hoja perdida es una cita perdida.</a:t>
            </a:r>
          </a:p>
          <a:p>
            <a:r>
              <a:t>2) Solo se puede reservar en horario de atención: el paciente tiene que llamar o ir en persona.</a:t>
            </a:r>
          </a:p>
          <a:p>
            <a:r>
              <a:t>3) Cuando falta un médico o cae un feriado, recepción tiene que llamar a cada paciente para reacomodar.</a:t>
            </a:r>
          </a:p>
          <a:p>
            <a:r>
              <a:t>Nuestro objetivo es que el paciente reserve solo, a cualquier hora, y que el sistema respete el calendario real de la clínica.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[BENJAMIN · 1 min]</a:t>
            </a:r>
          </a:p>
          <a:p>
            <a:r>
              <a:t>Nuestra propuesta es MediAgenda. Lo que nos diferencia de agendar por teléfono o en la libreta son tres cosas:</a:t>
            </a:r>
          </a:p>
          <a:p>
            <a:r>
              <a:t>- Funciona 24/7: el paciente reserva sin depender del horario de recepción.</a:t>
            </a:r>
          </a:p>
          <a:p>
            <a:r>
              <a:t>- Bloquea automáticamente los feriados de Panamá, incluidos el carnaval y el 1 de julio, la toma de posesión. En el calendario de ejemplo, el 8 y 9 de febrero de 2027 son carnaval y no se pueden elegir.</a:t>
            </a:r>
          </a:p>
          <a:p>
            <a:r>
              <a:t>- Y si un médico se ausenta, reagenda en bloque todas sus citas, evitando que el paciente viaje en vano.</a:t>
            </a:r>
          </a:p>
          <a:p>
            <a:r>
              <a:t>Transición: "Ahora Edwin les explica qué abarca exactamente el sistema".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[EDWIN · 50 s]</a:t>
            </a:r>
          </a:p>
          <a:p>
            <a:r>
              <a:t>Gracias, Benjamin. El sistema tiene cuatro roles, y cada uno tiene una tarea clara:</a:t>
            </a:r>
          </a:p>
          <a:p>
            <a:r>
              <a:t>- El paciente solicita, reprograma o cancela sus citas en línea.</a:t>
            </a:r>
          </a:p>
          <a:p>
            <a:r>
              <a:t>- Recepción confirma la llegada del paciente y reagenda cuando falta un médico.</a:t>
            </a:r>
          </a:p>
          <a:p>
            <a:r>
              <a:t>- El médico consulta su agenda y registra una nota por cada consulta.</a:t>
            </a:r>
          </a:p>
          <a:p>
            <a:r>
              <a:t>- Y el administrador gestiona usuarios, roles, especialidades, servicios y feriados.</a:t>
            </a:r>
          </a:p>
          <a:p>
            <a:r>
              <a:t>Cada rol ve solo las opciones de menú que le corresponden; en la maqueta mostramos todas para poder recorrerla.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[EDWIN · 1 min]</a:t>
            </a:r>
          </a:p>
          <a:p>
            <a:r>
              <a:t>El sistema se organiza en cinco módulos que cubren todo el ciclo de una cita: usuarios y roles; horarios y disponibilidad, donde se cargan horarios, ausencias y feriados; la gestión de agenda, que es el corazón del sistema; la consulta médica, donde el médico deja su nota; y los reportes.</a:t>
            </a:r>
          </a:p>
          <a:p>
            <a:r>
              <a:t>Los reportes responden preguntas concretas de gestión: cuánta demanda hubo en el mes, cómo se reparte la carga entre médicos, quién no llega a sus citas, cuántas citas se cancelan y qué especialidades necesitan más horarios. El gráfico es el que aparece en el panel de administración de la maqueta.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[EDWIN · 50 s]</a:t>
            </a:r>
          </a:p>
          <a:p>
            <a:r>
              <a:t>Así se ve el recorrido completo de una cita:</a:t>
            </a:r>
          </a:p>
          <a:p>
            <a:r>
              <a:t>1) El paciente reserva en línea eligiendo especialidad, médico y horario.</a:t>
            </a:r>
          </a:p>
          <a:p>
            <a:r>
              <a:t>2) El sistema valida y descarta feriados, carnaval y ausencias del médico.</a:t>
            </a:r>
          </a:p>
          <a:p>
            <a:r>
              <a:t>3) Recepción confirma la llegada del paciente.</a:t>
            </a:r>
          </a:p>
          <a:p>
            <a:r>
              <a:t>4) El médico lo atiende y registra su nota.</a:t>
            </a:r>
          </a:p>
          <a:p>
            <a:r>
              <a:t>5) Y esa cita alimenta los reportes de administración.</a:t>
            </a:r>
          </a:p>
          <a:p>
            <a:r>
              <a:t>Lo importante: el paso 1 está disponible 24/7, no depende del horario de recepción.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[EDWIN · 50 s]</a:t>
            </a:r>
          </a:p>
          <a:p>
            <a:r>
              <a:t>Esta es la función que más nos diferencia. Hoy, cuando un médico falta, recepción revisa la libreta, llama a cada paciente uno por uno y anota las nuevas fechas a mano, con riesgo de que choquen.</a:t>
            </a:r>
          </a:p>
          <a:p>
            <a:r>
              <a:t>Con MediAgenda, recepción solo marca la ausencia; el sistema propone el siguiente espacio libre para cada cita, y el paciente ve su nueva fecha al ingresar y la puede cambiar si no le conviene.</a:t>
            </a:r>
          </a:p>
          <a:p>
            <a:r>
              <a:t>En la maqueta, la pantalla de Horario y ausencias muestra justamente ese aviso: "Esta ausencia afecta 9 citas".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[EDWIN · 45 s]</a:t>
            </a:r>
          </a:p>
          <a:p>
            <a:r>
              <a:t>Para el siguiente hito, el sistema se apoya en diez entidades, que serán las tablas de la base de datos. Las agrupamos en tres: personas y acceso (usuario, rol, paciente y médico); catálogo y calendario (especialidad, servicio, horario y feriado); y operación (cita y nota de consulta).</a:t>
            </a:r>
          </a:p>
          <a:p>
            <a:r>
              <a:t>La Cita es la entidad principal y une todo: un paciente, un médico, un servicio y un horario, siempre validada contra los feriados. Al atenderla, el médico le agrega su nota de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[EDWIN · 50 s]</a:t>
            </a:r>
          </a:p>
          <a:p>
            <a:r>
              <a:t>Estas son las reglas específicas de nuestro equipo:</a:t>
            </a:r>
          </a:p>
          <a:p>
            <a:r>
              <a:t>- Usamos el prefijo eq05- en todas las clases, IDs y variables de CSS.</a:t>
            </a:r>
          </a:p>
          <a:p>
            <a:r>
              <a:t>- El color de acento asignado por el docente es el azul #0A62A0.</a:t>
            </a:r>
          </a:p>
          <a:p>
            <a:r>
              <a:t>- El campo especial es el número de expediente, que debe tener exactamente 6 dígitos.</a:t>
            </a:r>
          </a:p>
          <a:p>
            <a:r>
              <a:t>- Y la regla de negocio: el paciente debe pedir su cita con al menos 24 horas de anticipación; recepción sí puede reagendar sin ese límite.</a:t>
            </a:r>
          </a:p>
          <a:p>
            <a:r>
              <a:t>A la derecha, lo que sí hace el sistema en esta etapa y lo que dejamos fuera: pagos en línea, WhatsApp o SMS y facturación a aseguradoras, que se pueden sumar en una fase futura sin cambiar el núcleo.</a:t>
            </a:r>
          </a:p>
          <a:p>
            <a:r>
              <a:t>Transición: "Para definir todo esto no partimos de supuestos: Dana les cuenta lo que encontramos en campo".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[DANA · 1 min]</a:t>
            </a:r>
          </a:p>
          <a:p>
            <a:r>
              <a:t>Gracias, Edwin. Para validar el problema entrevisté a una paciente, usuaria habitual de clínicas. Fue una entrevista de 25 minutos por audio de WhatsApp, con 8 preguntas, el 18 de octubre.</a:t>
            </a:r>
          </a:p>
          <a:p>
            <a:r>
              <a:t>Lo que más nos marcó:</a:t>
            </a:r>
          </a:p>
          <a:p>
            <a:r>
              <a:t>- La demora: para un especialista casi nunca hay cupo inmediato.</a:t>
            </a:r>
          </a:p>
          <a:p>
            <a:r>
              <a:t>- Cancelar es difícil: los teléfonos no contestan y a veces hay que ir en persona solo para cancelar.</a:t>
            </a:r>
          </a:p>
          <a:p>
            <a:r>
              <a:t>- Lleva el control de sus citas en una agenda de papel.</a:t>
            </a:r>
          </a:p>
          <a:p>
            <a:r>
              <a:t>- Y le ha pasado llegar a la clínica y que el médico no esté, teniendo que volver otro día.</a:t>
            </a:r>
          </a:p>
          <a:p>
            <a:r>
              <a:t>La entrevistada autorizó el uso de la información con fines académicos y acepta que el docente la contacte para verificarla.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[DANA · 1 min]</a:t>
            </a:r>
          </a:p>
          <a:p>
            <a:r>
              <a:t>De la entrevista salieron tres hallazgos que cambiaron el diseño:</a:t>
            </a:r>
          </a:p>
          <a:p>
            <a:r>
              <a:t>1) Cancelar o reprogramar por teléfono es frustrante. Por eso agregamos autogestión: el paciente cancela o reprograma en línea desde el listado de citas y su perfil, respetando la regla de 24 horas; recepción lo puede hacer sin límite.</a:t>
            </a:r>
          </a:p>
          <a:p>
            <a:r>
              <a:t>2) El registro no pedía datos críticos de salud. Incorporamos el cambio de requerimiento de la semana 5: el teléfono de emergencia es obligatorio y hay una sección de antecedentes, que el médico ve en el detalle de la cita.</a:t>
            </a:r>
          </a:p>
          <a:p>
            <a:r>
              <a:t>3) Viajar en vano porque el médico no está. Por eso la agenda bloquea feriados, carnaval, el 1 de julio y las ausencias registradas, y solo ofrece horas que existen.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[DANA · 1 min]</a:t>
            </a:r>
          </a:p>
          <a:p>
            <a:r>
              <a:t>Con esa información hicimos los wireframes de baja fidelidad: 11 pantallas de escritorio, que son las 10 pedidas más el perfil y la página de error, y 5 pantallas móviles con el menú desplegado.</a:t>
            </a:r>
          </a:p>
          <a:p>
            <a:r>
              <a:t>Están en escala de grises y cada pantalla trae anotaciones: qué elemento HTML se usará y qué regla de negocio hace cumplir.</a:t>
            </a:r>
          </a:p>
          <a:p>
            <a:r>
              <a:t>Aquí ven el flujo de navegación: desde el inicio, cada rol llega a sus pantallas; por ejemplo, el paciente va de reservar cita al listado y al detalle.</a:t>
            </a:r>
          </a:p>
          <a:p>
            <a:r>
              <a:t>(Si preguntan: el documento completo está en docs/wireframes.pdf, 19 páginas.)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[DANA · 1 min]</a:t>
            </a:r>
          </a:p>
          <a:p>
            <a:r>
              <a:t>Antes de pasar a alta fidelidad, diseñamos una prueba de usabilidad sobre los wireframes. El objetivo es comprobar que cada rol completa sus tareas clave y entiende los bloqueos del calendario y el reagendado.</a:t>
            </a:r>
          </a:p>
          <a:p>
            <a:r>
              <a:t>Será moderada, con el participante pensando en voz alta, y con cinco personas: tres pacientes de distintas edades, una persona de recepción y un médico.</a:t>
            </a:r>
          </a:p>
          <a:p>
            <a:r>
              <a:t>Son ocho tareas; por ejemplo, la T2 pide reservar el 8 de febrero, que es carnaval, para ver si el usuario entiende por qué no puede. Medimos éxito, tiempo, errores, la escala SEQ después de cada tarea y el cuestionario SUS al final, con meta de 68 o más.</a:t>
            </a:r>
          </a:p>
          <a:p>
            <a:r>
              <a:t>Transición: "Con la estructura validada, definimos cómo se ve el sistema: la guía de estilo".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[DANA · 1 min]</a:t>
            </a:r>
          </a:p>
          <a:p>
            <a:r>
              <a:t>La guía de estilo parte del azul #0A62A0 asignado al proyecto. Toda la paleta son tonos de ese azul, neutros, y el coral como acento; cada color tiene un rol fijo, por ejemplo el coral oscuro siempre significa error o cancelación.</a:t>
            </a:r>
          </a:p>
          <a:p>
            <a:r>
              <a:t>Usamos la tipografía Inter, un espaciado base de 8 píxeles, y una proporción de 70 % neutros, 20 % azules y 10 % de acento.</a:t>
            </a:r>
          </a:p>
          <a:p>
            <a:r>
              <a:t>Cuatro principios guían cada decisión: claridad, disponibilidad, accesibilidad con contraste AA y foco visible, y consistencia. Todo esto existe también como variables CSS, para que el código use exactamente los mismos valores.</a:t>
            </a:r>
          </a:p>
          <a:p>
            <a:r>
              <a:t>Transición: "Alvaro les muestra cómo todo esto se convirtió en la maqueta".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[ALVARO · 1 min]</a:t>
            </a:r>
          </a:p>
          <a:p>
            <a:r>
              <a:t>Gracias, Dana. La maqueta es un sitio estático navegable de 12 páginas HTML que reproduce los wireframes y aplica la guía de estilo.</a:t>
            </a:r>
          </a:p>
          <a:p>
            <a:r>
              <a:t>Aquí ven ocho de ellas: el inicio público, el inicio de sesión, el registro, la reserva de cita del paciente, el listado de recepción, el detalle con la nota del médico, el horario y ausencias, y el panel de administración. Además están el perfil, la recuperación de contraseña, la página de error 403/404 y la página legal.</a:t>
            </a:r>
          </a:p>
          <a:p>
            <a:r>
              <a:t>Todas comparten el mismo encabezado, menú y pie. En la maqueta el menú muestra todas las opciones para poder recorrerla; en el sistema real cada rol verá solo las suyas.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[ALVARO · 1 min]</a:t>
            </a:r>
          </a:p>
          <a:p>
            <a:r>
              <a:t>Esta es la pantalla más importante: Reservar cita, el formulario de la entidad principal.</a:t>
            </a:r>
          </a:p>
          <a:p>
            <a:r>
              <a:t>1) El calendario muestra el carnaval del 8 y 9 de febrero en rosa, las ausencias del médico rayadas, los días sin cupo y los domingos cerrados; al pasar el cursor explica el motivo.</a:t>
            </a:r>
          </a:p>
          <a:p>
            <a:r>
              <a:t>2) Aquí está nuestro campo especial: el número de expediente, que exige exactamente 6 dígitos con pattern, minlength y maxlength.</a:t>
            </a:r>
          </a:p>
          <a:p>
            <a:r>
              <a:t>3) La regla de negocio de 24 horas se refleja en la fecha mínima y en el aviso.</a:t>
            </a:r>
          </a:p>
          <a:p>
            <a:r>
              <a:t>4) Y como dice la guía, hay un solo botón primario, "Confirmar cita", en el resumen.</a:t>
            </a:r>
          </a:p>
          <a:p>
            <a:r>
              <a:t>(Aquí se puede hacer la demo en vivo: abrir principal-formulario.html.)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[ALVARO · 1 min]</a:t>
            </a:r>
          </a:p>
          <a:p>
            <a:r>
              <a:t>En lo técnico cumplimos todos los requisitos del hito: 12 páginas y 12 formularios, con 10 tipos de entrada distintos (texto, correo, contraseña, teléfono, fecha, hora, número, búsqueda, casillas y radios), cada campo con su label y validaciones como required, pattern, min y max.</a:t>
            </a:r>
          </a:p>
          <a:p>
            <a:r>
              <a:t>Usamos HTML5 semántico: header, nav, main, section, article, aside y footer, un solo h1 por página y tablas con caption y th scope.</a:t>
            </a:r>
          </a:p>
          <a:p>
            <a:r>
              <a:t>Todo el diseño está en una sola hoja externa, css/estilos.css, con el prefijo eq05- en todos los id, clases y variables. Usamos Flexbox y Grid, y con dos puntos de quiebre la página se adapta a móvil: el menú se pliega y la tabla de citas se convierte en tarjetas, como ven a la derecha.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[ALVARO · 45 s]</a:t>
            </a:r>
          </a:p>
          <a:p>
            <a:r>
              <a:t>Para asegurar la calidad, validamos todo con los validadores oficiales del W3C. Las 12 páginas pasaron el Nu Html Checker sin errores, y la hoja de estilos pasó el validador CSS, perfil CSS3, también sin errores. Las capturas están en docs/validacion.</a:t>
            </a:r>
          </a:p>
          <a:p>
            <a:r>
              <a:t>Además revisamos la accesibilidad: todas las imágenes tienen alt, cada campo su label, el foco es visible, el contraste cumple AA y los estados de la cita nunca dependen solo del color.</a:t>
            </a:r>
          </a:p>
          <a:p>
            <a:r>
              <a:t>(Si preguntan por las 25 advertencias del CSS: son avisos, no errores; el validador no las cuenta como fallas.)</a:t>
            </a:r>
          </a:p>
          <a:p>
            <a:r>
              <a:t>Transición: "Benjamin cierra con los próximos pasos".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[BENJAMIN · 45 s]</a:t>
            </a:r>
          </a:p>
          <a:p>
            <a:r>
              <a:t>Esta entrega es la fase inicial, que vale el 3 % del hito: el kickoff con alcance, roles, módulos, entidades, wireframes, guía de estilo y la maqueta.</a:t>
            </a:r>
          </a:p>
          <a:p>
            <a:r>
              <a:t>Lo que sigue es la entrega parcial, con el 50 %, donde avanzamos el sistema según lo que definimos hoy; y el cierre del hito, con el 47 %, con el sistema completo y sus cinco módulos.</a:t>
            </a:r>
          </a:p>
          <a:p>
            <a:r>
              <a:t>Como próximos pasos inmediatos vamos a aplicar la prueba de usabilidad con cinco participantes y completar la bitácora y la matriz de responsabilidad.</a:t>
            </a:r>
          </a:p>
          <a:p>
            <a:r>
              <a:t>Por transparencia: usamos IA (Qwen) solo como asistente de auditoría, para verificar la rúbrica y sugerir mejoras de accesibilidad.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[BENJAMIN · cierre + preguntas]</a:t>
            </a:r>
          </a:p>
          <a:p>
            <a:r>
              <a:t>Eso es MediAgenda. Muchas gracias por su atención. Quedamos atentos a sus preguntas.</a:t>
            </a:r>
          </a:p>
          <a:p>
            <a:r>
              <a:t>Reparto de preguntas: alcance, roles y entidades → Edwin. Entrevista, wireframes, usabilidad y guía de estilo → Dana. Código, validación W3C y responsive → Alvaro. Preguntas generales y de planificación → Benjamin.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B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6012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148840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9CC3E3"/>
                </a:solidFill>
                <a:latin typeface="Arial"/>
              </a:rPr>
              <a:t>PROYECTO SEMESTRAL · HITO 1 · EQUIPO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585216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000" b="1" i="0">
                <a:solidFill>
                  <a:srgbClr val="FFFFFF"/>
                </a:solidFill>
                <a:latin typeface="Arial"/>
              </a:rPr>
              <a:t>MediAgenda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0" i="0">
                <a:solidFill>
                  <a:srgbClr val="E7F0F8"/>
                </a:solidFill>
                <a:latin typeface="Arial"/>
              </a:rPr>
              <a:t>Sistema web de citas médicas para las Clínicas Minimed, Ciudad de Panamá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74920"/>
            <a:ext cx="58521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Benjamin Concepción · Edwin · Dana Wing · Alvaro Guardia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9CC3E3"/>
                </a:solidFill>
                <a:latin typeface="Arial"/>
              </a:rPr>
              <a:t>Octubre de 2026</a:t>
            </a:r>
          </a:p>
        </p:txBody>
      </p:sp>
      <p:pic>
        <p:nvPicPr>
          <p:cNvPr id="7" name="Ilustración" descr="hero-clini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417320"/>
            <a:ext cx="4846320" cy="34619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Equipo 05 y orden de presentación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EQUIPO Y AGENDA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BC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Benjamin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2</a:t>
            </a:r>
          </a:p>
        </p:txBody>
      </p:sp>
      <p:sp>
        <p:nvSpPr>
          <p:cNvPr id="9" name="Tarjeta Benjamin Concepción"/>
          <p:cNvSpPr/>
          <p:nvPr/>
        </p:nvSpPr>
        <p:spPr>
          <a:xfrm>
            <a:off x="548640" y="1691640"/>
            <a:ext cx="256032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874519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0A62A0"/>
                </a:solidFill>
                <a:latin typeface="Arial"/>
              </a:rPr>
              <a:t>01</a:t>
            </a:r>
          </a:p>
        </p:txBody>
      </p:sp>
      <p:sp>
        <p:nvSpPr>
          <p:cNvPr id="11" name="Oval 10"/>
          <p:cNvSpPr/>
          <p:nvPr/>
        </p:nvSpPr>
        <p:spPr>
          <a:xfrm>
            <a:off x="822959" y="2240280"/>
            <a:ext cx="822960" cy="822960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BC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5468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1800" b="1" i="0">
                <a:solidFill>
                  <a:srgbClr val="073B63"/>
                </a:solidFill>
                <a:latin typeface="Arial"/>
              </a:rPr>
              <a:t>Benjamin Concepción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8862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546372"/>
                </a:solidFill>
                <a:latin typeface="Arial"/>
              </a:rPr>
              <a:t>@bconcepcion1376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1879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1A2733"/>
                </a:solidFill>
                <a:latin typeface="Arial"/>
              </a:rPr>
              <a:t>Líder de proyecto y desarrollo HTML/CSS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2194560" cy="100584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919472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A62A0"/>
                </a:solidFill>
                <a:latin typeface="Arial"/>
              </a:rPr>
              <a:t>PRESENTA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73B63"/>
                </a:solidFill>
                <a:latin typeface="Arial"/>
              </a:rPr>
              <a:t>Introducción y cierre</a:t>
            </a:r>
          </a:p>
        </p:txBody>
      </p:sp>
      <p:sp>
        <p:nvSpPr>
          <p:cNvPr id="17" name="Tarjeta Edwin"/>
          <p:cNvSpPr/>
          <p:nvPr/>
        </p:nvSpPr>
        <p:spPr>
          <a:xfrm>
            <a:off x="3392424" y="1691640"/>
            <a:ext cx="256032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66744" y="1874519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1F7A4D"/>
                </a:solidFill>
                <a:latin typeface="Arial"/>
              </a:rPr>
              <a:t>02</a:t>
            </a:r>
          </a:p>
        </p:txBody>
      </p:sp>
      <p:sp>
        <p:nvSpPr>
          <p:cNvPr id="19" name="Oval 18"/>
          <p:cNvSpPr/>
          <p:nvPr/>
        </p:nvSpPr>
        <p:spPr>
          <a:xfrm>
            <a:off x="3666744" y="2240280"/>
            <a:ext cx="822960" cy="82296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315468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1800" b="1" i="0" dirty="0">
                <a:solidFill>
                  <a:srgbClr val="073B63"/>
                </a:solidFill>
                <a:latin typeface="Arial"/>
              </a:rPr>
              <a:t>Edwin</a:t>
            </a:r>
            <a:r>
              <a:rPr lang="es-PA" sz="1800" b="1" i="0" dirty="0">
                <a:solidFill>
                  <a:srgbClr val="073B63"/>
                </a:solidFill>
                <a:latin typeface="Arial"/>
              </a:rPr>
              <a:t> Vergara</a:t>
            </a:r>
            <a:endParaRPr sz="1800" b="1" i="0" dirty="0">
              <a:solidFill>
                <a:srgbClr val="073B63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66744" y="38862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546372"/>
                </a:solidFill>
                <a:latin typeface="Arial"/>
              </a:rPr>
              <a:t>@simbiak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6744" y="41879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1A2733"/>
                </a:solidFill>
                <a:latin typeface="Arial"/>
              </a:rPr>
              <a:t>Documentación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75304" y="4846320"/>
            <a:ext cx="2194560" cy="100584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2463" y="4919472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A62A0"/>
                </a:solidFill>
                <a:latin typeface="Arial"/>
              </a:rPr>
              <a:t>PRESENTA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73B63"/>
                </a:solidFill>
                <a:latin typeface="Arial"/>
              </a:rPr>
              <a:t>Alcance del sistema</a:t>
            </a:r>
          </a:p>
        </p:txBody>
      </p:sp>
      <p:sp>
        <p:nvSpPr>
          <p:cNvPr id="25" name="Tarjeta Dana Wing"/>
          <p:cNvSpPr/>
          <p:nvPr/>
        </p:nvSpPr>
        <p:spPr>
          <a:xfrm>
            <a:off x="6236207" y="1691640"/>
            <a:ext cx="256032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7" y="1874519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BA3C2B"/>
                </a:solidFill>
                <a:latin typeface="Arial"/>
              </a:rPr>
              <a:t>03</a:t>
            </a:r>
          </a:p>
        </p:txBody>
      </p:sp>
      <p:sp>
        <p:nvSpPr>
          <p:cNvPr id="27" name="Oval 26"/>
          <p:cNvSpPr/>
          <p:nvPr/>
        </p:nvSpPr>
        <p:spPr>
          <a:xfrm>
            <a:off x="6510527" y="2240280"/>
            <a:ext cx="822960" cy="822960"/>
          </a:xfrm>
          <a:prstGeom prst="ellipse">
            <a:avLst/>
          </a:prstGeom>
          <a:solidFill>
            <a:srgbClr val="BA3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DW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7" y="315468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1800" b="1" i="0">
                <a:solidFill>
                  <a:srgbClr val="073B63"/>
                </a:solidFill>
                <a:latin typeface="Arial"/>
              </a:rPr>
              <a:t>Dana Wing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7" y="38862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546372"/>
                </a:solidFill>
                <a:latin typeface="Arial"/>
              </a:rPr>
              <a:t>@dalilaling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7" y="41879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1A2733"/>
                </a:solidFill>
                <a:latin typeface="Arial"/>
              </a:rPr>
              <a:t>Calidad y validación W3C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088" y="4846320"/>
            <a:ext cx="2194560" cy="100584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56247" y="4919472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A62A0"/>
                </a:solidFill>
                <a:latin typeface="Arial"/>
              </a:rPr>
              <a:t>PRESENTA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73B63"/>
                </a:solidFill>
                <a:latin typeface="Arial"/>
              </a:rPr>
              <a:t>Investigación y diseño</a:t>
            </a:r>
          </a:p>
        </p:txBody>
      </p:sp>
      <p:sp>
        <p:nvSpPr>
          <p:cNvPr id="33" name="Tarjeta Alvaro Guardia"/>
          <p:cNvSpPr/>
          <p:nvPr/>
        </p:nvSpPr>
        <p:spPr>
          <a:xfrm>
            <a:off x="9079992" y="1691640"/>
            <a:ext cx="256032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54312" y="1874519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8A5A00"/>
                </a:solidFill>
                <a:latin typeface="Arial"/>
              </a:rPr>
              <a:t>04</a:t>
            </a:r>
          </a:p>
        </p:txBody>
      </p:sp>
      <p:sp>
        <p:nvSpPr>
          <p:cNvPr id="35" name="Oval 34"/>
          <p:cNvSpPr/>
          <p:nvPr/>
        </p:nvSpPr>
        <p:spPr>
          <a:xfrm>
            <a:off x="9354312" y="2240280"/>
            <a:ext cx="822960" cy="8229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54312" y="315468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sz="1800" b="1" i="0">
                <a:solidFill>
                  <a:srgbClr val="073B63"/>
                </a:solidFill>
                <a:latin typeface="Arial"/>
              </a:rPr>
              <a:t>Alvaro Guardia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4312" y="38862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546372"/>
                </a:solidFill>
                <a:latin typeface="Arial"/>
              </a:rPr>
              <a:t>@aguard28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4312" y="4187952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1A2733"/>
                </a:solidFill>
                <a:latin typeface="Arial"/>
              </a:rPr>
              <a:t>Calidad y validación W3C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62872" y="4846320"/>
            <a:ext cx="2194560" cy="100584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00032" y="4919472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A62A0"/>
                </a:solidFill>
                <a:latin typeface="Arial"/>
              </a:rPr>
              <a:t>PRESENTA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73B63"/>
                </a:solidFill>
                <a:latin typeface="Arial"/>
              </a:rPr>
              <a:t>Maqueta y validación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Hoy, una cita depende del papel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EL PROBLEMA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BC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Benjamin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3</a:t>
            </a:r>
          </a:p>
        </p:txBody>
      </p:sp>
      <p:sp>
        <p:nvSpPr>
          <p:cNvPr id="9" name="Problema 1"/>
          <p:cNvSpPr/>
          <p:nvPr/>
        </p:nvSpPr>
        <p:spPr>
          <a:xfrm>
            <a:off x="548640" y="1691640"/>
            <a:ext cx="3511296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 i="0">
                <a:solidFill>
                  <a:srgbClr val="BA3C2B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 i="0">
                <a:solidFill>
                  <a:srgbClr val="073B63"/>
                </a:solidFill>
                <a:latin typeface="Arial"/>
              </a:rPr>
              <a:t>Citas en papel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1A2733"/>
                </a:solidFill>
                <a:latin typeface="Arial"/>
              </a:rPr>
              <a:t>La agenda vive en libretas de recepción. Un error al escribir o una hoja perdida es una cita perdida.</a:t>
            </a:r>
          </a:p>
        </p:txBody>
      </p:sp>
      <p:sp>
        <p:nvSpPr>
          <p:cNvPr id="13" name="Problema 2"/>
          <p:cNvSpPr/>
          <p:nvPr/>
        </p:nvSpPr>
        <p:spPr>
          <a:xfrm>
            <a:off x="4338827" y="1691640"/>
            <a:ext cx="3511296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58867" y="1965960"/>
            <a:ext cx="640080" cy="640080"/>
          </a:xfrm>
          <a:prstGeom prst="ellipse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 i="0">
                <a:solidFill>
                  <a:srgbClr val="BA3C2B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8867" y="27889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 i="0">
                <a:solidFill>
                  <a:srgbClr val="073B63"/>
                </a:solidFill>
                <a:latin typeface="Arial"/>
              </a:rPr>
              <a:t>Horario limitado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8867" y="324612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1A2733"/>
                </a:solidFill>
                <a:latin typeface="Arial"/>
              </a:rPr>
              <a:t>El paciente tiene que llamar o ir en persona para reservar, reprogramar o cancelar.</a:t>
            </a:r>
          </a:p>
        </p:txBody>
      </p:sp>
      <p:sp>
        <p:nvSpPr>
          <p:cNvPr id="17" name="Problema 3"/>
          <p:cNvSpPr/>
          <p:nvPr/>
        </p:nvSpPr>
        <p:spPr>
          <a:xfrm>
            <a:off x="8129015" y="1691640"/>
            <a:ext cx="3511296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49055" y="1965960"/>
            <a:ext cx="640080" cy="640080"/>
          </a:xfrm>
          <a:prstGeom prst="ellipse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 i="0">
                <a:solidFill>
                  <a:srgbClr val="BA3C2B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5" y="27889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 i="0">
                <a:solidFill>
                  <a:srgbClr val="073B63"/>
                </a:solidFill>
                <a:latin typeface="Arial"/>
              </a:rPr>
              <a:t>Reacomodo manual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5" y="324612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1A2733"/>
                </a:solidFill>
                <a:latin typeface="Arial"/>
              </a:rPr>
              <a:t>Si falta un médico o cae un feriado, recepción llama paciente por paciente para mover las citas.</a:t>
            </a:r>
          </a:p>
        </p:txBody>
      </p:sp>
      <p:sp>
        <p:nvSpPr>
          <p:cNvPr id="21" name="Objetivo"/>
          <p:cNvSpPr/>
          <p:nvPr/>
        </p:nvSpPr>
        <p:spPr>
          <a:xfrm>
            <a:off x="548640" y="4937760"/>
            <a:ext cx="11091672" cy="1097280"/>
          </a:xfrm>
          <a:prstGeom prst="roundRect">
            <a:avLst>
              <a:gd name="adj" fmla="val 12000"/>
            </a:avLst>
          </a:prstGeom>
          <a:solidFill>
            <a:srgbClr val="0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9377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 i="0">
                <a:solidFill>
                  <a:srgbClr val="9CC3E3"/>
                </a:solidFill>
                <a:latin typeface="Arial"/>
              </a:rPr>
              <a:t>Objetivo: </a:t>
            </a:r>
            <a:r>
              <a:rPr sz="1800" b="0" i="0">
                <a:solidFill>
                  <a:srgbClr val="FFFFFF"/>
                </a:solidFill>
                <a:latin typeface="Arial"/>
              </a:rPr>
              <a:t>que el paciente reserve solo, a cualquier hora, y que el sistema respete el calendario real de la clínica.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MediAgenda: citas en línea 24/7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LA PROPUESTA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BC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Benjamin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0" i="0">
                <a:solidFill>
                  <a:srgbClr val="1A2733"/>
                </a:solidFill>
                <a:latin typeface="Arial"/>
              </a:rPr>
              <a:t>Los pacientes reservan, reprograman y cancelan en línea, sin depender del horario de recepción. La agenda solo ofrece días y horas que de verdad existen.</a:t>
            </a:r>
          </a:p>
        </p:txBody>
      </p:sp>
      <p:sp>
        <p:nvSpPr>
          <p:cNvPr id="10" name="Diferencia 1"/>
          <p:cNvSpPr/>
          <p:nvPr/>
        </p:nvSpPr>
        <p:spPr>
          <a:xfrm>
            <a:off x="548640" y="2788920"/>
            <a:ext cx="56692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0A62A0"/>
                </a:solidFill>
                <a:latin typeface="Arial"/>
              </a:rPr>
              <a:t>24/7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788920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0" i="0">
                <a:solidFill>
                  <a:srgbClr val="1A2733"/>
                </a:solidFill>
                <a:latin typeface="Arial"/>
              </a:rPr>
              <a:t>Reserva en línea, sin depender del horario de recepción</a:t>
            </a:r>
          </a:p>
        </p:txBody>
      </p:sp>
      <p:sp>
        <p:nvSpPr>
          <p:cNvPr id="13" name="Diferencia 2"/>
          <p:cNvSpPr/>
          <p:nvPr/>
        </p:nvSpPr>
        <p:spPr>
          <a:xfrm>
            <a:off x="548640" y="3904487"/>
            <a:ext cx="56692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904487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0A62A0"/>
                </a:solidFill>
                <a:latin typeface="Arial"/>
              </a:rPr>
              <a:t>Feriados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904487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0" i="0">
                <a:solidFill>
                  <a:srgbClr val="1A2733"/>
                </a:solidFill>
                <a:latin typeface="Arial"/>
              </a:rPr>
              <a:t>Bloqueo automático del calendario panameño</a:t>
            </a:r>
          </a:p>
        </p:txBody>
      </p:sp>
      <p:sp>
        <p:nvSpPr>
          <p:cNvPr id="16" name="Diferencia 3"/>
          <p:cNvSpPr/>
          <p:nvPr/>
        </p:nvSpPr>
        <p:spPr>
          <a:xfrm>
            <a:off x="548640" y="5020056"/>
            <a:ext cx="56692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020056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0A62A0"/>
                </a:solidFill>
                <a:latin typeface="Arial"/>
              </a:rPr>
              <a:t>En bloque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5020056"/>
            <a:ext cx="306324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0" i="0">
                <a:solidFill>
                  <a:srgbClr val="1A2733"/>
                </a:solidFill>
                <a:latin typeface="Arial"/>
              </a:rPr>
              <a:t>Reagendado de todas las citas cuando un médico se ausenta</a:t>
            </a:r>
          </a:p>
        </p:txBody>
      </p:sp>
      <p:sp>
        <p:nvSpPr>
          <p:cNvPr id="19" name="Calendario"/>
          <p:cNvSpPr/>
          <p:nvPr/>
        </p:nvSpPr>
        <p:spPr>
          <a:xfrm>
            <a:off x="6629400" y="1691640"/>
            <a:ext cx="5010912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03720" y="18745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073B63"/>
                </a:solidFill>
                <a:latin typeface="Arial"/>
              </a:rPr>
              <a:t>Pensado para el calendario de Panamá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24028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546372"/>
                </a:solidFill>
                <a:latin typeface="Arial"/>
              </a:rPr>
              <a:t>Ejemplo: febrero de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651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 i="0">
                <a:solidFill>
                  <a:srgbClr val="546372"/>
                </a:solidFill>
                <a:latin typeface="Arial"/>
              </a:rPr>
              <a:t>Lun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651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 i="0">
                <a:solidFill>
                  <a:srgbClr val="546372"/>
                </a:solidFill>
                <a:latin typeface="Arial"/>
              </a:rPr>
              <a:t>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2651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 i="0">
                <a:solidFill>
                  <a:srgbClr val="546372"/>
                </a:solidFill>
                <a:latin typeface="Arial"/>
              </a:rPr>
              <a:t>Mié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8" y="2651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 i="0">
                <a:solidFill>
                  <a:srgbClr val="546372"/>
                </a:solidFill>
                <a:latin typeface="Arial"/>
              </a:rPr>
              <a:t>Jue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651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 i="0">
                <a:solidFill>
                  <a:srgbClr val="546372"/>
                </a:solidFill>
                <a:latin typeface="Arial"/>
              </a:rPr>
              <a:t>Vie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0112" y="2651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 i="0">
                <a:solidFill>
                  <a:srgbClr val="546372"/>
                </a:solidFill>
                <a:latin typeface="Arial"/>
              </a:rPr>
              <a:t>Sáb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1904" y="2651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 i="0">
                <a:solidFill>
                  <a:srgbClr val="546372"/>
                </a:solidFill>
                <a:latin typeface="Arial"/>
              </a:rPr>
              <a:t>Dom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31152" y="2971800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52944" y="2971800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74736" y="2971800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96528" y="2971800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18320" y="2971800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40112" y="2971800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61904" y="2971800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8A97A4"/>
                </a:solidFill>
                <a:latin typeface="Arial"/>
              </a:rPr>
              <a:t>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31152" y="3465576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BA3C2B"/>
                </a:solidFill>
                <a:latin typeface="Arial"/>
              </a:rPr>
              <a:t>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52944" y="3465576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BA3C2B"/>
                </a:solidFill>
                <a:latin typeface="Arial"/>
              </a:rPr>
              <a:t>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74736" y="3465576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10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96528" y="3465576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11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18320" y="3465576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12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40112" y="3465576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13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61904" y="3465576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8A97A4"/>
                </a:solidFill>
                <a:latin typeface="Arial"/>
              </a:rPr>
              <a:t>14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31152" y="3959352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15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52944" y="3959352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16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74736" y="3959352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17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96528" y="3959352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18320" y="3959352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19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40112" y="3959352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20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661904" y="3959352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8A97A4"/>
                </a:solidFill>
                <a:latin typeface="Arial"/>
              </a:rPr>
              <a:t>21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31152" y="4453128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22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52944" y="4453128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23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74736" y="4453128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24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96528" y="4453128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25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18320" y="4453128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26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040112" y="4453128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1A2733"/>
                </a:solidFill>
                <a:latin typeface="Arial"/>
              </a:rPr>
              <a:t>27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661904" y="4453128"/>
            <a:ext cx="548640" cy="420624"/>
          </a:xfrm>
          <a:prstGeom prst="roundRect">
            <a:avLst>
              <a:gd name="adj" fmla="val 15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0" i="0">
                <a:solidFill>
                  <a:srgbClr val="8A97A4"/>
                </a:solidFill>
                <a:latin typeface="Arial"/>
              </a:rPr>
              <a:t>28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31152" y="5111496"/>
            <a:ext cx="201168" cy="201168"/>
          </a:xfrm>
          <a:prstGeom prst="roundRect">
            <a:avLst/>
          </a:prstGeom>
          <a:solidFill>
            <a:srgbClr val="FDECEA"/>
          </a:solidFill>
          <a:ln w="9525">
            <a:solidFill>
              <a:srgbClr val="F2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223760" y="505663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8 y 9 feb: </a:t>
            </a:r>
            <a:r>
              <a:rPr sz="1200" b="0" i="0">
                <a:solidFill>
                  <a:srgbClr val="1A2733"/>
                </a:solidFill>
                <a:latin typeface="Arial"/>
              </a:rPr>
              <a:t>carnaval, la clínica no atiende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31152" y="5449824"/>
            <a:ext cx="201168" cy="201168"/>
          </a:xfrm>
          <a:prstGeom prst="roundRect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223760" y="53949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1 de julio: </a:t>
            </a:r>
            <a:r>
              <a:rPr sz="1200" b="0" i="0">
                <a:solidFill>
                  <a:srgbClr val="1A2733"/>
                </a:solidFill>
                <a:latin typeface="Arial"/>
              </a:rPr>
              <a:t>toma de posesión, también bloqueado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Cuatro roles, una tarea clara cada uno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ALCANCE DEL SISTEMA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Edwin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5</a:t>
            </a:r>
          </a:p>
        </p:txBody>
      </p:sp>
      <p:sp>
        <p:nvSpPr>
          <p:cNvPr id="9" name="Rol Paciente"/>
          <p:cNvSpPr/>
          <p:nvPr/>
        </p:nvSpPr>
        <p:spPr>
          <a:xfrm>
            <a:off x="548640" y="1691640"/>
            <a:ext cx="256032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59" y="1965960"/>
            <a:ext cx="822960" cy="822960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7180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 i="0">
                <a:solidFill>
                  <a:srgbClr val="073B63"/>
                </a:solidFill>
                <a:latin typeface="Arial"/>
              </a:rPr>
              <a:t>Paciente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42900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1A2733"/>
                </a:solidFill>
                <a:latin typeface="Arial"/>
              </a:rPr>
              <a:t>Solicita, reprograma o cancela sus citas en línea, a cualquier hora.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00600"/>
            <a:ext cx="2194560" cy="105156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846320"/>
            <a:ext cx="192024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A62A0"/>
                </a:solidFill>
                <a:latin typeface="Arial"/>
              </a:rPr>
              <a:t>PANTALLAS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073B63"/>
                </a:solidFill>
                <a:latin typeface="Arial"/>
              </a:rPr>
              <a:t>Reservar cita · Mi perfil</a:t>
            </a:r>
          </a:p>
        </p:txBody>
      </p:sp>
      <p:sp>
        <p:nvSpPr>
          <p:cNvPr id="15" name="Rol Recepción"/>
          <p:cNvSpPr/>
          <p:nvPr/>
        </p:nvSpPr>
        <p:spPr>
          <a:xfrm>
            <a:off x="3392424" y="1691640"/>
            <a:ext cx="256032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66744" y="1965960"/>
            <a:ext cx="822960" cy="822960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297180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 i="0">
                <a:solidFill>
                  <a:srgbClr val="073B63"/>
                </a:solidFill>
                <a:latin typeface="Arial"/>
              </a:rPr>
              <a:t>Recepción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342900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1A2733"/>
                </a:solidFill>
                <a:latin typeface="Arial"/>
              </a:rPr>
              <a:t>Confirma la llegada del paciente y reagenda cuando falta el médico.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75304" y="4800600"/>
            <a:ext cx="2194560" cy="105156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12463" y="4846320"/>
            <a:ext cx="192024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A62A0"/>
                </a:solidFill>
                <a:latin typeface="Arial"/>
              </a:rPr>
              <a:t>PANTALLAS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073B63"/>
                </a:solidFill>
                <a:latin typeface="Arial"/>
              </a:rPr>
              <a:t>Listado de citas · Horario y ausencias</a:t>
            </a:r>
          </a:p>
        </p:txBody>
      </p:sp>
      <p:sp>
        <p:nvSpPr>
          <p:cNvPr id="21" name="Rol Médico"/>
          <p:cNvSpPr/>
          <p:nvPr/>
        </p:nvSpPr>
        <p:spPr>
          <a:xfrm>
            <a:off x="6236207" y="1691640"/>
            <a:ext cx="256032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10527" y="1965960"/>
            <a:ext cx="822960" cy="822960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7" y="297180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 i="0">
                <a:solidFill>
                  <a:srgbClr val="073B63"/>
                </a:solidFill>
                <a:latin typeface="Arial"/>
              </a:rPr>
              <a:t>Médico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7" y="342900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1A2733"/>
                </a:solidFill>
                <a:latin typeface="Arial"/>
              </a:rPr>
              <a:t>Consulta su agenda y registra una nota de cada consulta.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9088" y="4800600"/>
            <a:ext cx="2194560" cy="105156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56247" y="4846320"/>
            <a:ext cx="192024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A62A0"/>
                </a:solidFill>
                <a:latin typeface="Arial"/>
              </a:rPr>
              <a:t>PANTALLAS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073B63"/>
                </a:solidFill>
                <a:latin typeface="Arial"/>
              </a:rPr>
              <a:t>Detalle de cita y nota</a:t>
            </a:r>
          </a:p>
        </p:txBody>
      </p:sp>
      <p:sp>
        <p:nvSpPr>
          <p:cNvPr id="27" name="Rol Administrador"/>
          <p:cNvSpPr/>
          <p:nvPr/>
        </p:nvSpPr>
        <p:spPr>
          <a:xfrm>
            <a:off x="9079992" y="1691640"/>
            <a:ext cx="256032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354312" y="1965960"/>
            <a:ext cx="822960" cy="822960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297180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 i="0">
                <a:solidFill>
                  <a:srgbClr val="073B63"/>
                </a:solidFill>
                <a:latin typeface="Arial"/>
              </a:rPr>
              <a:t>Administrador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3429000"/>
            <a:ext cx="21031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>
                <a:solidFill>
                  <a:srgbClr val="1A2733"/>
                </a:solidFill>
                <a:latin typeface="Arial"/>
              </a:rPr>
              <a:t>Gestiona usuarios, roles, especialidades, servicios y feriados.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62872" y="4800600"/>
            <a:ext cx="2194560" cy="105156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00032" y="4846320"/>
            <a:ext cx="192024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A62A0"/>
                </a:solidFill>
                <a:latin typeface="Arial"/>
              </a:rPr>
              <a:t>PANTALLAS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073B63"/>
                </a:solidFill>
                <a:latin typeface="Arial"/>
              </a:rPr>
              <a:t>Panel de administración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Cinco módulos cubren todo el ciclo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ALCANCE DEL SISTEMA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Edwin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6</a:t>
            </a:r>
          </a:p>
        </p:txBody>
      </p:sp>
      <p:sp>
        <p:nvSpPr>
          <p:cNvPr id="9" name="Módulo 1"/>
          <p:cNvSpPr/>
          <p:nvPr/>
        </p:nvSpPr>
        <p:spPr>
          <a:xfrm>
            <a:off x="548640" y="1691640"/>
            <a:ext cx="6675120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31520" y="1842516"/>
            <a:ext cx="457200" cy="457200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691640"/>
            <a:ext cx="2651760" cy="7589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>
                <a:solidFill>
                  <a:srgbClr val="073B63"/>
                </a:solidFill>
                <a:latin typeface="Arial"/>
              </a:rPr>
              <a:t>Usuarios y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691640"/>
            <a:ext cx="3017520" cy="7589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Crear, modificar y asignar permisos a cada usuario.</a:t>
            </a:r>
          </a:p>
        </p:txBody>
      </p:sp>
      <p:sp>
        <p:nvSpPr>
          <p:cNvPr id="13" name="Módulo 2"/>
          <p:cNvSpPr/>
          <p:nvPr/>
        </p:nvSpPr>
        <p:spPr>
          <a:xfrm>
            <a:off x="548640" y="2587752"/>
            <a:ext cx="6675120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1520" y="2738628"/>
            <a:ext cx="457200" cy="457200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587752"/>
            <a:ext cx="2651760" cy="7589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>
                <a:solidFill>
                  <a:srgbClr val="073B63"/>
                </a:solidFill>
                <a:latin typeface="Arial"/>
              </a:rPr>
              <a:t>Horarios y disponibilidad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587752"/>
            <a:ext cx="3017520" cy="7589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Horario de cada médico, sus ausencias y los feriados.</a:t>
            </a:r>
          </a:p>
        </p:txBody>
      </p:sp>
      <p:sp>
        <p:nvSpPr>
          <p:cNvPr id="17" name="Módulo 3"/>
          <p:cNvSpPr/>
          <p:nvPr/>
        </p:nvSpPr>
        <p:spPr>
          <a:xfrm>
            <a:off x="548640" y="3483864"/>
            <a:ext cx="6675120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3634740"/>
            <a:ext cx="457200" cy="457200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83864"/>
            <a:ext cx="2651760" cy="7589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>
                <a:solidFill>
                  <a:srgbClr val="073B63"/>
                </a:solidFill>
                <a:latin typeface="Arial"/>
              </a:rPr>
              <a:t>Gestión de agenda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483864"/>
            <a:ext cx="3017520" cy="7589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Reservar, reprogramar y cancelar según la disponibilidad real.</a:t>
            </a:r>
          </a:p>
        </p:txBody>
      </p:sp>
      <p:sp>
        <p:nvSpPr>
          <p:cNvPr id="21" name="Módulo 4"/>
          <p:cNvSpPr/>
          <p:nvPr/>
        </p:nvSpPr>
        <p:spPr>
          <a:xfrm>
            <a:off x="548640" y="4379976"/>
            <a:ext cx="6675120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4530852"/>
            <a:ext cx="457200" cy="457200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379976"/>
            <a:ext cx="2651760" cy="7589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>
                <a:solidFill>
                  <a:srgbClr val="073B63"/>
                </a:solidFill>
                <a:latin typeface="Arial"/>
              </a:rPr>
              <a:t>Consulta médica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379976"/>
            <a:ext cx="3017520" cy="7589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Registrar la nota e historial del paciente atendido.</a:t>
            </a:r>
          </a:p>
        </p:txBody>
      </p:sp>
      <p:sp>
        <p:nvSpPr>
          <p:cNvPr id="25" name="Módulo 5"/>
          <p:cNvSpPr/>
          <p:nvPr/>
        </p:nvSpPr>
        <p:spPr>
          <a:xfrm>
            <a:off x="548640" y="5276088"/>
            <a:ext cx="6675120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1520" y="5426964"/>
            <a:ext cx="457200" cy="457200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276088"/>
            <a:ext cx="2651760" cy="7589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>
                <a:solidFill>
                  <a:srgbClr val="073B63"/>
                </a:solidFill>
                <a:latin typeface="Arial"/>
              </a:rPr>
              <a:t>Reportes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5276088"/>
            <a:ext cx="3017520" cy="7589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Citas por mes, médico y especialidad, cancelaciones y ausentismo.</a:t>
            </a:r>
          </a:p>
        </p:txBody>
      </p:sp>
      <p:sp>
        <p:nvSpPr>
          <p:cNvPr id="29" name="Reportes"/>
          <p:cNvSpPr/>
          <p:nvPr/>
        </p:nvSpPr>
        <p:spPr>
          <a:xfrm>
            <a:off x="7498079" y="1691640"/>
            <a:ext cx="4142232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0" y="1874519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073B63"/>
                </a:solidFill>
                <a:latin typeface="Arial"/>
              </a:rPr>
              <a:t>Reportes para decidir con datos</a:t>
            </a:r>
          </a:p>
        </p:txBody>
      </p:sp>
      <p:pic>
        <p:nvPicPr>
          <p:cNvPr id="31" name="Gráfico citas por mes" descr="grafico-citas-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331720"/>
            <a:ext cx="3593592" cy="19248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772400" y="4343400"/>
            <a:ext cx="3611880" cy="160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2733"/>
                </a:solidFill>
                <a:latin typeface="Arial"/>
              </a:rPr>
              <a:t>Citas mensuales</a:t>
            </a:r>
            <a:r>
              <a:rPr sz="1200" b="0" i="0">
                <a:solidFill>
                  <a:srgbClr val="1A2733"/>
                </a:solidFill>
                <a:latin typeface="Arial"/>
              </a:rPr>
              <a:t>: ¿cuánta demanda hubo?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2733"/>
                </a:solidFill>
                <a:latin typeface="Arial"/>
              </a:rPr>
              <a:t>Por médico</a:t>
            </a:r>
            <a:r>
              <a:rPr sz="1200" b="0" i="0">
                <a:solidFill>
                  <a:srgbClr val="1A2733"/>
                </a:solidFill>
                <a:latin typeface="Arial"/>
              </a:rPr>
              <a:t>: ¿cómo se reparte la carga?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2733"/>
                </a:solidFill>
                <a:latin typeface="Arial"/>
              </a:rPr>
              <a:t>Ausentismo</a:t>
            </a:r>
            <a:r>
              <a:rPr sz="1200" b="0" i="0">
                <a:solidFill>
                  <a:srgbClr val="1A2733"/>
                </a:solidFill>
                <a:latin typeface="Arial"/>
              </a:rPr>
              <a:t>: ¿quién no llega?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2733"/>
                </a:solidFill>
                <a:latin typeface="Arial"/>
              </a:rPr>
              <a:t>Canceladas</a:t>
            </a:r>
            <a:r>
              <a:rPr sz="1200" b="0" i="0">
                <a:solidFill>
                  <a:srgbClr val="1A2733"/>
                </a:solidFill>
                <a:latin typeface="Arial"/>
              </a:rPr>
              <a:t>: ¿cuántas se pierden?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2733"/>
                </a:solidFill>
                <a:latin typeface="Arial"/>
              </a:rPr>
              <a:t>Por especialidad</a:t>
            </a:r>
            <a:r>
              <a:rPr sz="1200" b="0" i="0">
                <a:solidFill>
                  <a:srgbClr val="1A2733"/>
                </a:solidFill>
                <a:latin typeface="Arial"/>
              </a:rPr>
              <a:t>: ¿dónde faltan horarios?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El recorrido de una cita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ALCANCE DEL SISTEMA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Edwin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60727" y="2697480"/>
            <a:ext cx="1212494" cy="0"/>
          </a:xfrm>
          <a:prstGeom prst="line">
            <a:avLst/>
          </a:prstGeom>
          <a:ln w="31750">
            <a:solidFill>
              <a:srgbClr val="9CC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26287" y="169164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6287" y="169164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0A62A0"/>
                </a:solidFill>
                <a:latin typeface="Arial"/>
              </a:rPr>
              <a:t>PACIENTE</a:t>
            </a:r>
          </a:p>
        </p:txBody>
      </p:sp>
      <p:sp>
        <p:nvSpPr>
          <p:cNvPr id="12" name="Oval 11"/>
          <p:cNvSpPr/>
          <p:nvPr/>
        </p:nvSpPr>
        <p:spPr>
          <a:xfrm>
            <a:off x="1246327" y="2286000"/>
            <a:ext cx="822960" cy="822960"/>
          </a:xfrm>
          <a:prstGeom prst="ellipse">
            <a:avLst/>
          </a:prstGeom>
          <a:solidFill>
            <a:srgbClr val="F2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03545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900" b="1" i="0">
                <a:solidFill>
                  <a:srgbClr val="073B63"/>
                </a:solidFill>
                <a:latin typeface="Arial"/>
              </a:rPr>
              <a:t>Reserva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1852574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0" i="0">
                <a:solidFill>
                  <a:srgbClr val="1A2733"/>
                </a:solidFill>
                <a:latin typeface="Arial"/>
              </a:rPr>
              <a:t>Elige especialidad, médico y horario en línea.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79061" y="2697480"/>
            <a:ext cx="1212495" cy="0"/>
          </a:xfrm>
          <a:prstGeom prst="line">
            <a:avLst/>
          </a:prstGeom>
          <a:ln w="31750">
            <a:solidFill>
              <a:srgbClr val="9CC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144621" y="169164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44621" y="169164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0A62A0"/>
                </a:solidFill>
                <a:latin typeface="Arial"/>
              </a:rPr>
              <a:t>SISTEMA</a:t>
            </a:r>
          </a:p>
        </p:txBody>
      </p:sp>
      <p:sp>
        <p:nvSpPr>
          <p:cNvPr id="18" name="Oval 17"/>
          <p:cNvSpPr/>
          <p:nvPr/>
        </p:nvSpPr>
        <p:spPr>
          <a:xfrm>
            <a:off x="3464661" y="2286000"/>
            <a:ext cx="822960" cy="822960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8414" y="3291840"/>
            <a:ext cx="203545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900" b="1" i="0">
                <a:solidFill>
                  <a:srgbClr val="073B63"/>
                </a:solidFill>
                <a:latin typeface="Arial"/>
              </a:rPr>
              <a:t>Validación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9854" y="3749039"/>
            <a:ext cx="1852574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0" i="0">
                <a:solidFill>
                  <a:srgbClr val="1A2733"/>
                </a:solidFill>
                <a:latin typeface="Arial"/>
              </a:rPr>
              <a:t>Descarta feriados, carnaval y ausencias.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97396" y="2697480"/>
            <a:ext cx="1212494" cy="0"/>
          </a:xfrm>
          <a:prstGeom prst="line">
            <a:avLst/>
          </a:prstGeom>
          <a:ln w="31750">
            <a:solidFill>
              <a:srgbClr val="9CC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362956" y="169164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62956" y="169164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0A62A0"/>
                </a:solidFill>
                <a:latin typeface="Arial"/>
              </a:rPr>
              <a:t>RECEPCIÓN</a:t>
            </a:r>
          </a:p>
        </p:txBody>
      </p:sp>
      <p:sp>
        <p:nvSpPr>
          <p:cNvPr id="24" name="Oval 23"/>
          <p:cNvSpPr/>
          <p:nvPr/>
        </p:nvSpPr>
        <p:spPr>
          <a:xfrm>
            <a:off x="5682996" y="2286000"/>
            <a:ext cx="822960" cy="822960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6748" y="3291840"/>
            <a:ext cx="203545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900" b="1" i="0">
                <a:solidFill>
                  <a:srgbClr val="073B63"/>
                </a:solidFill>
                <a:latin typeface="Arial"/>
              </a:rPr>
              <a:t>Llegada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8188" y="3749039"/>
            <a:ext cx="1852574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0" i="0">
                <a:solidFill>
                  <a:srgbClr val="1A2733"/>
                </a:solidFill>
                <a:latin typeface="Arial"/>
              </a:rPr>
              <a:t>Confirma que el paciente llegó.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15730" y="2697480"/>
            <a:ext cx="1212494" cy="0"/>
          </a:xfrm>
          <a:prstGeom prst="line">
            <a:avLst/>
          </a:prstGeom>
          <a:ln w="31750">
            <a:solidFill>
              <a:srgbClr val="9CC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581290" y="169164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1290" y="169164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0A62A0"/>
                </a:solidFill>
                <a:latin typeface="Arial"/>
              </a:rPr>
              <a:t>MÉDICO</a:t>
            </a:r>
          </a:p>
        </p:txBody>
      </p:sp>
      <p:sp>
        <p:nvSpPr>
          <p:cNvPr id="30" name="Oval 29"/>
          <p:cNvSpPr/>
          <p:nvPr/>
        </p:nvSpPr>
        <p:spPr>
          <a:xfrm>
            <a:off x="7901330" y="2286000"/>
            <a:ext cx="822960" cy="822960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5083" y="3291840"/>
            <a:ext cx="203545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900" b="1" i="0">
                <a:solidFill>
                  <a:srgbClr val="073B63"/>
                </a:solidFill>
                <a:latin typeface="Arial"/>
              </a:rPr>
              <a:t>Consulta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6523" y="3749039"/>
            <a:ext cx="1852574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0" i="0">
                <a:solidFill>
                  <a:srgbClr val="1A2733"/>
                </a:solidFill>
                <a:latin typeface="Arial"/>
              </a:rPr>
              <a:t>Atiende y registra su nota.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99624" y="169164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99624" y="1691640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0A62A0"/>
                </a:solidFill>
                <a:latin typeface="Arial"/>
              </a:rPr>
              <a:t>ADMINISTRACIÓN</a:t>
            </a:r>
          </a:p>
        </p:txBody>
      </p:sp>
      <p:sp>
        <p:nvSpPr>
          <p:cNvPr id="35" name="Oval 34"/>
          <p:cNvSpPr/>
          <p:nvPr/>
        </p:nvSpPr>
        <p:spPr>
          <a:xfrm>
            <a:off x="10119664" y="2286000"/>
            <a:ext cx="822960" cy="822960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13417" y="3291840"/>
            <a:ext cx="2035454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900" b="1" i="0">
                <a:solidFill>
                  <a:srgbClr val="073B63"/>
                </a:solidFill>
                <a:latin typeface="Arial"/>
              </a:rPr>
              <a:t>Reporte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4857" y="3749039"/>
            <a:ext cx="1852574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0" i="0">
                <a:solidFill>
                  <a:srgbClr val="1A2733"/>
                </a:solidFill>
                <a:latin typeface="Arial"/>
              </a:rPr>
              <a:t>La cita alimenta los informes.</a:t>
            </a:r>
          </a:p>
        </p:txBody>
      </p:sp>
      <p:sp>
        <p:nvSpPr>
          <p:cNvPr id="38" name="Aviso 24/7"/>
          <p:cNvSpPr/>
          <p:nvPr/>
        </p:nvSpPr>
        <p:spPr>
          <a:xfrm>
            <a:off x="548640" y="5029200"/>
            <a:ext cx="11091672" cy="100584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94376"/>
            <a:ext cx="475488" cy="47548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600200" y="5029200"/>
            <a:ext cx="978408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>
                <a:solidFill>
                  <a:srgbClr val="073B63"/>
                </a:solidFill>
                <a:latin typeface="Arial"/>
              </a:rPr>
              <a:t>Disponible 24/7: </a:t>
            </a:r>
            <a:r>
              <a:rPr sz="1700" b="0" i="0">
                <a:solidFill>
                  <a:srgbClr val="073B63"/>
                </a:solidFill>
                <a:latin typeface="Arial"/>
              </a:rPr>
              <a:t>el paso 1 no depende del horario de recepción.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Si el médico falta, se reagenda en bloque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ALCANCE DEL SISTEMA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Edwin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8</a:t>
            </a:r>
          </a:p>
        </p:txBody>
      </p:sp>
      <p:sp>
        <p:nvSpPr>
          <p:cNvPr id="9" name="Columna Hoy"/>
          <p:cNvSpPr/>
          <p:nvPr/>
        </p:nvSpPr>
        <p:spPr>
          <a:xfrm>
            <a:off x="548640" y="1691640"/>
            <a:ext cx="52578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59" y="192024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192024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00" b="1" i="0">
                <a:solidFill>
                  <a:srgbClr val="BA3C2B"/>
                </a:solidFill>
                <a:latin typeface="Arial"/>
              </a:rPr>
              <a:t>Hoy</a:t>
            </a:r>
          </a:p>
        </p:txBody>
      </p:sp>
      <p:sp>
        <p:nvSpPr>
          <p:cNvPr id="12" name="Oval 11"/>
          <p:cNvSpPr/>
          <p:nvPr/>
        </p:nvSpPr>
        <p:spPr>
          <a:xfrm>
            <a:off x="822959" y="2651760"/>
            <a:ext cx="384048" cy="384048"/>
          </a:xfrm>
          <a:prstGeom prst="ellipse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BA3C2B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0604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1A2733"/>
                </a:solidFill>
                <a:latin typeface="Arial"/>
              </a:rPr>
              <a:t>Recepción revisa la libreta para ver qué citas se afectan.</a:t>
            </a:r>
          </a:p>
        </p:txBody>
      </p:sp>
      <p:sp>
        <p:nvSpPr>
          <p:cNvPr id="14" name="Oval 13"/>
          <p:cNvSpPr/>
          <p:nvPr/>
        </p:nvSpPr>
        <p:spPr>
          <a:xfrm>
            <a:off x="822959" y="3383280"/>
            <a:ext cx="384048" cy="384048"/>
          </a:xfrm>
          <a:prstGeom prst="ellipse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BA3C2B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3756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1A2733"/>
                </a:solidFill>
                <a:latin typeface="Arial"/>
              </a:rPr>
              <a:t>Llama a cada paciente, uno por uno.</a:t>
            </a:r>
          </a:p>
        </p:txBody>
      </p:sp>
      <p:sp>
        <p:nvSpPr>
          <p:cNvPr id="16" name="Oval 15"/>
          <p:cNvSpPr/>
          <p:nvPr/>
        </p:nvSpPr>
        <p:spPr>
          <a:xfrm>
            <a:off x="822959" y="4114800"/>
            <a:ext cx="384048" cy="384048"/>
          </a:xfrm>
          <a:prstGeom prst="ellipse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BA3C2B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1A2733"/>
                </a:solidFill>
                <a:latin typeface="Arial"/>
              </a:rPr>
              <a:t>Anota las nuevas fechas a mano, con riesgo de choques.</a:t>
            </a:r>
          </a:p>
        </p:txBody>
      </p:sp>
      <p:sp>
        <p:nvSpPr>
          <p:cNvPr id="18" name="Columna Con MediAgenda"/>
          <p:cNvSpPr/>
          <p:nvPr/>
        </p:nvSpPr>
        <p:spPr>
          <a:xfrm>
            <a:off x="6382512" y="1691640"/>
            <a:ext cx="52578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56831" y="192024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56831" y="192024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Con MediAgenda</a:t>
            </a:r>
          </a:p>
        </p:txBody>
      </p:sp>
      <p:sp>
        <p:nvSpPr>
          <p:cNvPr id="21" name="Oval 20"/>
          <p:cNvSpPr/>
          <p:nvPr/>
        </p:nvSpPr>
        <p:spPr>
          <a:xfrm>
            <a:off x="6656831" y="2651760"/>
            <a:ext cx="384048" cy="384048"/>
          </a:xfrm>
          <a:prstGeom prst="ellipse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0A62A0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260604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1A2733"/>
                </a:solidFill>
                <a:latin typeface="Arial"/>
              </a:rPr>
              <a:t>Recepción marca la ausencia del médico.</a:t>
            </a:r>
          </a:p>
        </p:txBody>
      </p:sp>
      <p:sp>
        <p:nvSpPr>
          <p:cNvPr id="23" name="Oval 22"/>
          <p:cNvSpPr/>
          <p:nvPr/>
        </p:nvSpPr>
        <p:spPr>
          <a:xfrm>
            <a:off x="6656831" y="3383280"/>
            <a:ext cx="384048" cy="384048"/>
          </a:xfrm>
          <a:prstGeom prst="ellipse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0A62A0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333756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1A2733"/>
                </a:solidFill>
                <a:latin typeface="Arial"/>
              </a:rPr>
              <a:t>El sistema propone el siguiente espacio libre para cada cita.</a:t>
            </a:r>
          </a:p>
        </p:txBody>
      </p:sp>
      <p:sp>
        <p:nvSpPr>
          <p:cNvPr id="25" name="Oval 24"/>
          <p:cNvSpPr/>
          <p:nvPr/>
        </p:nvSpPr>
        <p:spPr>
          <a:xfrm>
            <a:off x="6656831" y="4114800"/>
            <a:ext cx="384048" cy="384048"/>
          </a:xfrm>
          <a:prstGeom prst="ellipse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0A62A0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406908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 i="0">
                <a:solidFill>
                  <a:srgbClr val="1A2733"/>
                </a:solidFill>
                <a:latin typeface="Arial"/>
              </a:rPr>
              <a:t>El paciente ve su nueva fecha al ingresar y puede cambiarla.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870448" y="3063240"/>
            <a:ext cx="457200" cy="502920"/>
          </a:xfrm>
          <a:prstGeom prst="rightArrow">
            <a:avLst/>
          </a:prstGeom>
          <a:solidFill>
            <a:srgbClr val="9C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viso del sistema"/>
          <p:cNvSpPr/>
          <p:nvPr/>
        </p:nvSpPr>
        <p:spPr>
          <a:xfrm>
            <a:off x="548640" y="5166360"/>
            <a:ext cx="11091672" cy="868680"/>
          </a:xfrm>
          <a:prstGeom prst="roundRect">
            <a:avLst>
              <a:gd name="adj" fmla="val 15000"/>
            </a:avLst>
          </a:prstGeom>
          <a:solidFill>
            <a:srgbClr val="FFF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advert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394960"/>
            <a:ext cx="411480" cy="411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63040" y="5166360"/>
            <a:ext cx="996696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 i="0">
                <a:solidFill>
                  <a:srgbClr val="8A5A00"/>
                </a:solidFill>
                <a:latin typeface="Arial"/>
              </a:rPr>
              <a:t>Mensaje real de la maqueta: </a:t>
            </a:r>
            <a:r>
              <a:rPr sz="1500" b="0" i="0">
                <a:solidFill>
                  <a:srgbClr val="8A5A00"/>
                </a:solidFill>
                <a:latin typeface="Arial"/>
              </a:rPr>
              <a:t>«Esta ausencia afecta 9 citas. Revise las fechas propuestas.»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Diez entidades de datos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ALCANCE DEL SISTEMA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Edwin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PERSONAS Y ACCESO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964692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0" i="0">
                <a:solidFill>
                  <a:srgbClr val="1A2733"/>
                </a:solidFill>
                <a:latin typeface="Arial"/>
              </a:rPr>
              <a:t>Usuario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50491" y="2057400"/>
            <a:ext cx="580644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0" i="0">
                <a:solidFill>
                  <a:srgbClr val="1A2733"/>
                </a:solidFill>
                <a:latin typeface="Arial"/>
              </a:rPr>
              <a:t>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68296" y="2057400"/>
            <a:ext cx="1060704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0" i="0">
                <a:solidFill>
                  <a:srgbClr val="1A2733"/>
                </a:solidFill>
                <a:latin typeface="Arial"/>
              </a:rPr>
              <a:t>Paciente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59" y="205740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0" i="0">
                <a:solidFill>
                  <a:srgbClr val="1A2733"/>
                </a:solidFill>
                <a:latin typeface="Arial"/>
              </a:rPr>
              <a:t>Médico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CATÁLOGO Y CALENDARIO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29000"/>
            <a:ext cx="1444752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0" i="0">
                <a:solidFill>
                  <a:srgbClr val="1A2733"/>
                </a:solidFill>
                <a:latin typeface="Arial"/>
              </a:rPr>
              <a:t>Especialidad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3429000"/>
            <a:ext cx="1060704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0" i="0">
                <a:solidFill>
                  <a:srgbClr val="1A2733"/>
                </a:solidFill>
                <a:latin typeface="Arial"/>
              </a:rPr>
              <a:t>Servicio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8415" y="3429000"/>
            <a:ext cx="964692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0" i="0">
                <a:solidFill>
                  <a:srgbClr val="1A2733"/>
                </a:solidFill>
                <a:latin typeface="Arial"/>
              </a:rPr>
              <a:t>Horario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0268" y="3429000"/>
            <a:ext cx="964692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0" i="0">
                <a:solidFill>
                  <a:srgbClr val="1A2733"/>
                </a:solidFill>
                <a:latin typeface="Arial"/>
              </a:rPr>
              <a:t>Feriado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OPERACIÓN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00600"/>
            <a:ext cx="676656" cy="502920"/>
          </a:xfrm>
          <a:prstGeom prst="roundRect">
            <a:avLst>
              <a:gd name="adj" fmla="val 50000"/>
            </a:avLst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Cita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2456" y="480060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0" i="0">
                <a:solidFill>
                  <a:srgbClr val="1A2733"/>
                </a:solidFill>
                <a:latin typeface="Arial"/>
              </a:rPr>
              <a:t>Nota de consulta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2356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546372"/>
                </a:solidFill>
                <a:latin typeface="Arial"/>
              </a:rPr>
              <a:t>Cada entidad será una tabla de la base de datos.</a:t>
            </a:r>
          </a:p>
        </p:txBody>
      </p:sp>
      <p:sp>
        <p:nvSpPr>
          <p:cNvPr id="23" name="Diagrama de la Cita"/>
          <p:cNvSpPr/>
          <p:nvPr/>
        </p:nvSpPr>
        <p:spPr>
          <a:xfrm>
            <a:off x="6217920" y="1691640"/>
            <a:ext cx="5422392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498079" y="2331720"/>
            <a:ext cx="1431037" cy="1188720"/>
          </a:xfrm>
          <a:prstGeom prst="line">
            <a:avLst/>
          </a:prstGeom>
          <a:ln w="25400">
            <a:solidFill>
              <a:srgbClr val="9CC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929116" y="2331720"/>
            <a:ext cx="1431036" cy="1188720"/>
          </a:xfrm>
          <a:prstGeom prst="line">
            <a:avLst/>
          </a:prstGeom>
          <a:ln w="25400">
            <a:solidFill>
              <a:srgbClr val="9CC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178040" y="3520440"/>
            <a:ext cx="1751076" cy="0"/>
          </a:xfrm>
          <a:prstGeom prst="line">
            <a:avLst/>
          </a:prstGeom>
          <a:ln w="25400">
            <a:solidFill>
              <a:srgbClr val="9CC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29116" y="3520440"/>
            <a:ext cx="1751076" cy="0"/>
          </a:xfrm>
          <a:prstGeom prst="line">
            <a:avLst/>
          </a:prstGeom>
          <a:ln w="25400">
            <a:solidFill>
              <a:srgbClr val="9CC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7498079" y="3520440"/>
            <a:ext cx="1431037" cy="1188720"/>
          </a:xfrm>
          <a:prstGeom prst="line">
            <a:avLst/>
          </a:prstGeom>
          <a:ln w="25400">
            <a:solidFill>
              <a:srgbClr val="9CC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929116" y="3520440"/>
            <a:ext cx="1431036" cy="1188720"/>
          </a:xfrm>
          <a:prstGeom prst="line">
            <a:avLst/>
          </a:prstGeom>
          <a:ln w="25400">
            <a:solidFill>
              <a:srgbClr val="9CC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ita"/>
          <p:cNvSpPr/>
          <p:nvPr/>
        </p:nvSpPr>
        <p:spPr>
          <a:xfrm>
            <a:off x="8289036" y="2880360"/>
            <a:ext cx="1280160" cy="1280160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Cita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19" y="2084831"/>
            <a:ext cx="1645920" cy="493776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073B63"/>
                </a:solidFill>
                <a:latin typeface="Arial"/>
              </a:rPr>
              <a:t>Paciente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37192" y="2084831"/>
            <a:ext cx="1645920" cy="493776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073B63"/>
                </a:solidFill>
                <a:latin typeface="Arial"/>
              </a:rPr>
              <a:t>Médico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79" y="3273552"/>
            <a:ext cx="1645920" cy="493776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073B63"/>
                </a:solidFill>
                <a:latin typeface="Arial"/>
              </a:rPr>
              <a:t>Servicio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57232" y="3273552"/>
            <a:ext cx="1645920" cy="493776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073B63"/>
                </a:solidFill>
                <a:latin typeface="Arial"/>
              </a:rPr>
              <a:t>Horario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19" y="4462272"/>
            <a:ext cx="1645920" cy="493776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BA3C2B"/>
                </a:solidFill>
                <a:latin typeface="Arial"/>
              </a:rPr>
              <a:t>Feriado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37192" y="4462272"/>
            <a:ext cx="1645920" cy="493776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073B63"/>
                </a:solidFill>
                <a:latin typeface="Arial"/>
              </a:rPr>
              <a:t>Nota de consulta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230368"/>
            <a:ext cx="489204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0" i="0">
                <a:solidFill>
                  <a:srgbClr val="546372"/>
                </a:solidFill>
                <a:latin typeface="Arial"/>
              </a:rPr>
              <a:t>La Cita une todo: un paciente, un médico, un servicio y un horario, validada contra los feriados.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Reglas del proyecto y alcance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ALCANCE DEL SISTEMA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Edwin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10</a:t>
            </a:r>
          </a:p>
        </p:txBody>
      </p:sp>
      <p:sp>
        <p:nvSpPr>
          <p:cNvPr id="9" name="Prefijo Del Equipo"/>
          <p:cNvSpPr/>
          <p:nvPr/>
        </p:nvSpPr>
        <p:spPr>
          <a:xfrm>
            <a:off x="548640" y="1691640"/>
            <a:ext cx="29260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8928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0A62A0"/>
                </a:solidFill>
                <a:latin typeface="Arial"/>
              </a:rPr>
              <a:t>PREFIJO DEL EQUIPO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9456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600" b="1" i="0">
                <a:solidFill>
                  <a:srgbClr val="073B63"/>
                </a:solidFill>
                <a:latin typeface="Courier New"/>
              </a:rPr>
              <a:t>eq05-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78892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En todas las clases, IDs y variables CSS.</a:t>
            </a:r>
          </a:p>
        </p:txBody>
      </p:sp>
      <p:sp>
        <p:nvSpPr>
          <p:cNvPr id="13" name="Color De Acento"/>
          <p:cNvSpPr/>
          <p:nvPr/>
        </p:nvSpPr>
        <p:spPr>
          <a:xfrm>
            <a:off x="3749039" y="1691640"/>
            <a:ext cx="29260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59" y="18928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0A62A0"/>
                </a:solidFill>
                <a:latin typeface="Arial"/>
              </a:rPr>
              <a:t>COLOR DE ACENTO</a:t>
            </a:r>
          </a:p>
        </p:txBody>
      </p:sp>
      <p:sp>
        <p:nvSpPr>
          <p:cNvPr id="15" name="Oval 14"/>
          <p:cNvSpPr/>
          <p:nvPr/>
        </p:nvSpPr>
        <p:spPr>
          <a:xfrm>
            <a:off x="4023359" y="2295144"/>
            <a:ext cx="384048" cy="384048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79" y="219456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600" b="1" i="0">
                <a:solidFill>
                  <a:srgbClr val="073B63"/>
                </a:solidFill>
                <a:latin typeface="Arial"/>
              </a:rPr>
              <a:t>#0A62A0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278892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Azul MediAgenda, asignado por el docente.</a:t>
            </a:r>
          </a:p>
        </p:txBody>
      </p:sp>
      <p:sp>
        <p:nvSpPr>
          <p:cNvPr id="18" name="Campo Especial"/>
          <p:cNvSpPr/>
          <p:nvPr/>
        </p:nvSpPr>
        <p:spPr>
          <a:xfrm>
            <a:off x="548640" y="4023360"/>
            <a:ext cx="29260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42245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0A62A0"/>
                </a:solidFill>
                <a:latin typeface="Arial"/>
              </a:rPr>
              <a:t>CAMPO ESPECIAL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5262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600" b="1" i="0">
                <a:solidFill>
                  <a:srgbClr val="073B63"/>
                </a:solidFill>
                <a:latin typeface="Arial"/>
              </a:rPr>
              <a:t>Expediente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12064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Exactamente 6 dígitos, en el formulario de la Cita.</a:t>
            </a:r>
          </a:p>
        </p:txBody>
      </p:sp>
      <p:sp>
        <p:nvSpPr>
          <p:cNvPr id="22" name="Regla De Negocio"/>
          <p:cNvSpPr/>
          <p:nvPr/>
        </p:nvSpPr>
        <p:spPr>
          <a:xfrm>
            <a:off x="3749039" y="4023360"/>
            <a:ext cx="29260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23359" y="42245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0A62A0"/>
                </a:solidFill>
                <a:latin typeface="Arial"/>
              </a:rPr>
              <a:t>REGLA DE NEGOCIO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59" y="45262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600" b="1" i="0">
                <a:solidFill>
                  <a:srgbClr val="073B63"/>
                </a:solidFill>
                <a:latin typeface="Arial"/>
              </a:rPr>
              <a:t>24 horas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59" y="512064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De anticipación para el paciente; Recepción reagenda sin ese límite.</a:t>
            </a:r>
          </a:p>
        </p:txBody>
      </p:sp>
      <p:sp>
        <p:nvSpPr>
          <p:cNvPr id="26" name="Dentro del alcance"/>
          <p:cNvSpPr/>
          <p:nvPr/>
        </p:nvSpPr>
        <p:spPr>
          <a:xfrm>
            <a:off x="7040880" y="1691640"/>
            <a:ext cx="459943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exi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901952"/>
            <a:ext cx="365760" cy="3657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18120" y="1883664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>
                <a:solidFill>
                  <a:srgbClr val="1F7A4D"/>
                </a:solidFill>
                <a:latin typeface="Arial"/>
              </a:rPr>
              <a:t>Dentro del alcance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423160"/>
            <a:ext cx="411480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2733"/>
                </a:solidFill>
                <a:latin typeface="Arial"/>
              </a:rPr>
              <a:t>Agenda en línea 24/7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2733"/>
                </a:solidFill>
                <a:latin typeface="Arial"/>
              </a:rPr>
              <a:t>Bloqueo automático de feriados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2733"/>
                </a:solidFill>
                <a:latin typeface="Arial"/>
              </a:rPr>
              <a:t>Reagendado por ausencia del médico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2733"/>
                </a:solidFill>
                <a:latin typeface="Arial"/>
              </a:rPr>
              <a:t>Nota de cada consulta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2733"/>
                </a:solidFill>
                <a:latin typeface="Arial"/>
              </a:rPr>
              <a:t>Cinco reportes de gestión</a:t>
            </a:r>
          </a:p>
        </p:txBody>
      </p:sp>
      <p:sp>
        <p:nvSpPr>
          <p:cNvPr id="30" name="Fuera de alcance"/>
          <p:cNvSpPr/>
          <p:nvPr/>
        </p:nvSpPr>
        <p:spPr>
          <a:xfrm>
            <a:off x="7040880" y="4206240"/>
            <a:ext cx="4599432" cy="18288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0" y="437083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BA3C2B"/>
                </a:solidFill>
                <a:latin typeface="Arial"/>
              </a:rPr>
              <a:t>Fuera de alcance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773168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2733"/>
                </a:solidFill>
                <a:latin typeface="Arial"/>
              </a:rPr>
              <a:t>Pagos en línea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2733"/>
                </a:solidFill>
                <a:latin typeface="Arial"/>
              </a:rPr>
              <a:t>Mensajes por WhatsApp o SMS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A2733"/>
                </a:solidFill>
                <a:latin typeface="Arial"/>
              </a:rPr>
              <a:t>Facturación a aseguradoras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Escuchamos a una paciente real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INVESTIGACIÓN Y DISEÑO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BA3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DW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Dana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11</a:t>
            </a:r>
          </a:p>
        </p:txBody>
      </p:sp>
      <p:sp>
        <p:nvSpPr>
          <p:cNvPr id="9" name="Ficha de la entrevista"/>
          <p:cNvSpPr/>
          <p:nvPr/>
        </p:nvSpPr>
        <p:spPr>
          <a:xfrm>
            <a:off x="548640" y="1691640"/>
            <a:ext cx="393192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073B63"/>
                </a:solidFill>
                <a:latin typeface="Arial"/>
              </a:rPr>
              <a:t>Ficha de la entrevista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546372"/>
                </a:solidFill>
                <a:latin typeface="Arial"/>
              </a:rPr>
              <a:t>Fecha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3774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A2733"/>
                </a:solidFill>
                <a:latin typeface="Arial"/>
              </a:rPr>
              <a:t>18 de octubre de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546372"/>
                </a:solidFill>
                <a:latin typeface="Arial"/>
              </a:rPr>
              <a:t>Perfil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8346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A2733"/>
                </a:solidFill>
                <a:latin typeface="Arial"/>
              </a:rPr>
              <a:t>Paciente, usuaria de clínicas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918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546372"/>
                </a:solidFill>
                <a:latin typeface="Arial"/>
              </a:rPr>
              <a:t>Formato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2918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A2733"/>
                </a:solidFill>
                <a:latin typeface="Arial"/>
              </a:rPr>
              <a:t>Audio por WhatsApp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49039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546372"/>
                </a:solidFill>
                <a:latin typeface="Arial"/>
              </a:rPr>
              <a:t>Duración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74903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A2733"/>
                </a:solidFill>
                <a:latin typeface="Arial"/>
              </a:rPr>
              <a:t>25 minutos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062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546372"/>
                </a:solidFill>
                <a:latin typeface="Arial"/>
              </a:rPr>
              <a:t>Preguntas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2062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A2733"/>
                </a:solidFill>
                <a:latin typeface="Arial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634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546372"/>
                </a:solidFill>
                <a:latin typeface="Arial"/>
              </a:rPr>
              <a:t>Entrevistó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6634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1A2733"/>
                </a:solidFill>
                <a:latin typeface="Arial"/>
              </a:rPr>
              <a:t>Dana Wing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12080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0">
                <a:solidFill>
                  <a:srgbClr val="546372"/>
                </a:solidFill>
                <a:latin typeface="Arial"/>
              </a:rPr>
              <a:t>Uso autorizado con fines académicos; verificable por el docente.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6916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LO QUE ESCUCHAMOS</a:t>
            </a:r>
          </a:p>
        </p:txBody>
      </p:sp>
      <p:sp>
        <p:nvSpPr>
          <p:cNvPr id="25" name="Respuesta P2"/>
          <p:cNvSpPr/>
          <p:nvPr/>
        </p:nvSpPr>
        <p:spPr>
          <a:xfrm>
            <a:off x="4754880" y="2057400"/>
            <a:ext cx="331012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029200" y="228600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BA3C2B"/>
                </a:solidFill>
                <a:latin typeface="Arial"/>
              </a:rPr>
              <a:t>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224028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>
                <a:solidFill>
                  <a:srgbClr val="073B63"/>
                </a:solidFill>
                <a:latin typeface="Arial"/>
              </a:rPr>
              <a:t>Mucha demora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788920"/>
            <a:ext cx="283464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1A2733"/>
                </a:solidFill>
                <a:latin typeface="Arial"/>
              </a:rPr>
              <a:t>Para un especialista casi nunca hay cupo inmediato; la cita queda para semanas después.</a:t>
            </a:r>
          </a:p>
        </p:txBody>
      </p:sp>
      <p:sp>
        <p:nvSpPr>
          <p:cNvPr id="29" name="Respuesta P5"/>
          <p:cNvSpPr/>
          <p:nvPr/>
        </p:nvSpPr>
        <p:spPr>
          <a:xfrm>
            <a:off x="8330183" y="2057400"/>
            <a:ext cx="331012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604504" y="228600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BA3C2B"/>
                </a:solidFill>
                <a:latin typeface="Arial"/>
              </a:rPr>
              <a:t>P5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224028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>
                <a:solidFill>
                  <a:srgbClr val="073B63"/>
                </a:solidFill>
                <a:latin typeface="Arial"/>
              </a:rPr>
              <a:t>Cancelar es difícil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4504" y="2788920"/>
            <a:ext cx="283464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1A2733"/>
                </a:solidFill>
                <a:latin typeface="Arial"/>
              </a:rPr>
              <a:t>Los teléfonos no contestan y a veces exigen ir en persona solo para cancelar.</a:t>
            </a:r>
          </a:p>
        </p:txBody>
      </p:sp>
      <p:sp>
        <p:nvSpPr>
          <p:cNvPr id="33" name="Respuesta P6"/>
          <p:cNvSpPr/>
          <p:nvPr/>
        </p:nvSpPr>
        <p:spPr>
          <a:xfrm>
            <a:off x="4754880" y="4206240"/>
            <a:ext cx="331012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029200" y="443484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BA3C2B"/>
                </a:solidFill>
                <a:latin typeface="Arial"/>
              </a:rPr>
              <a:t>P6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43891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>
                <a:solidFill>
                  <a:srgbClr val="073B63"/>
                </a:solidFill>
                <a:latin typeface="Arial"/>
              </a:rPr>
              <a:t>Control en papel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937759"/>
            <a:ext cx="283464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1A2733"/>
                </a:solidFill>
                <a:latin typeface="Arial"/>
              </a:rPr>
              <a:t>Confirma fecha y hora de palabra y las anota en una agenda de papel.</a:t>
            </a:r>
          </a:p>
        </p:txBody>
      </p:sp>
      <p:sp>
        <p:nvSpPr>
          <p:cNvPr id="37" name="Respuesta P8"/>
          <p:cNvSpPr/>
          <p:nvPr/>
        </p:nvSpPr>
        <p:spPr>
          <a:xfrm>
            <a:off x="8330183" y="4206240"/>
            <a:ext cx="331012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604504" y="443484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BA3C2B"/>
                </a:solidFill>
                <a:latin typeface="Arial"/>
              </a:rPr>
              <a:t>P8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0304" y="43891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>
                <a:solidFill>
                  <a:srgbClr val="073B63"/>
                </a:solidFill>
                <a:latin typeface="Arial"/>
              </a:rPr>
              <a:t>Viajes en vano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04504" y="4937759"/>
            <a:ext cx="283464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1A2733"/>
                </a:solidFill>
                <a:latin typeface="Arial"/>
              </a:rPr>
              <a:t>Llegó a la clínica y el médico no estaba: tuvo que volver otro día.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Tres hallazgos cambiaron el diseño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INVESTIGACIÓN Y DISEÑO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BA3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DW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Dana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12</a:t>
            </a:r>
          </a:p>
        </p:txBody>
      </p:sp>
      <p:sp>
        <p:nvSpPr>
          <p:cNvPr id="9" name="Hallazgo 1"/>
          <p:cNvSpPr/>
          <p:nvPr/>
        </p:nvSpPr>
        <p:spPr>
          <a:xfrm>
            <a:off x="548640" y="1691640"/>
            <a:ext cx="4846320" cy="132588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BA3C2B"/>
                </a:solidFill>
                <a:latin typeface="Arial"/>
              </a:rPr>
              <a:t>HALLAZGO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43891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1A2733"/>
                </a:solidFill>
                <a:latin typeface="Arial"/>
              </a:rPr>
              <a:t>Cancelar o reprogramar por teléfono o en persona es lento y frustrante.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32120" y="2130552"/>
            <a:ext cx="457200" cy="457200"/>
          </a:xfrm>
          <a:prstGeom prst="rightArrow">
            <a:avLst/>
          </a:prstGeom>
          <a:solidFill>
            <a:srgbClr val="9C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mbio 1"/>
          <p:cNvSpPr/>
          <p:nvPr/>
        </p:nvSpPr>
        <p:spPr>
          <a:xfrm>
            <a:off x="6126480" y="1691640"/>
            <a:ext cx="551383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0A62A0"/>
                </a:solidFill>
                <a:latin typeface="Arial"/>
              </a:rPr>
              <a:t>CAMBIO EN EL DISEÑO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84832"/>
            <a:ext cx="507492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Autogestión en línea: el paciente cancela o reprograma solo, con 24 h de anticipación; Recepción sin límite.</a:t>
            </a:r>
          </a:p>
        </p:txBody>
      </p:sp>
      <p:sp>
        <p:nvSpPr>
          <p:cNvPr id="16" name="Pantallas"/>
          <p:cNvSpPr txBox="1"/>
          <p:nvPr/>
        </p:nvSpPr>
        <p:spPr>
          <a:xfrm>
            <a:off x="6400800" y="267919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0">
                <a:solidFill>
                  <a:srgbClr val="0A62A0"/>
                </a:solidFill>
                <a:latin typeface="Courier New"/>
              </a:rPr>
              <a:t>principal-listado.html · perfil.html</a:t>
            </a:r>
          </a:p>
        </p:txBody>
      </p:sp>
      <p:sp>
        <p:nvSpPr>
          <p:cNvPr id="17" name="Hallazgo 2"/>
          <p:cNvSpPr/>
          <p:nvPr/>
        </p:nvSpPr>
        <p:spPr>
          <a:xfrm>
            <a:off x="548640" y="3200400"/>
            <a:ext cx="4846320" cy="132588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3375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BA3C2B"/>
                </a:solidFill>
                <a:latin typeface="Arial"/>
              </a:rPr>
              <a:t>HALLAZGO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11880"/>
            <a:ext cx="43891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1A2733"/>
                </a:solidFill>
                <a:latin typeface="Arial"/>
              </a:rPr>
              <a:t>El registro no pide alergias, enfermedades ni un contacto de emergencia.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532120" y="3639312"/>
            <a:ext cx="457200" cy="457200"/>
          </a:xfrm>
          <a:prstGeom prst="rightArrow">
            <a:avLst/>
          </a:prstGeom>
          <a:solidFill>
            <a:srgbClr val="9C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mbio 2"/>
          <p:cNvSpPr/>
          <p:nvPr/>
        </p:nvSpPr>
        <p:spPr>
          <a:xfrm>
            <a:off x="6126480" y="3200400"/>
            <a:ext cx="551383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3375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0A62A0"/>
                </a:solidFill>
                <a:latin typeface="Arial"/>
              </a:rPr>
              <a:t>CAMBIO EN EL DISEÑO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93592"/>
            <a:ext cx="507492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Registro con «Teléfono de emergencia» obligatorio y antecedentes de salud, visibles para el médico.</a:t>
            </a:r>
          </a:p>
        </p:txBody>
      </p:sp>
      <p:sp>
        <p:nvSpPr>
          <p:cNvPr id="24" name="Pantallas"/>
          <p:cNvSpPr txBox="1"/>
          <p:nvPr/>
        </p:nvSpPr>
        <p:spPr>
          <a:xfrm>
            <a:off x="6400800" y="418795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0">
                <a:solidFill>
                  <a:srgbClr val="0A62A0"/>
                </a:solidFill>
                <a:latin typeface="Courier New"/>
              </a:rPr>
              <a:t>registro.html · principal-detalle.html</a:t>
            </a:r>
          </a:p>
        </p:txBody>
      </p:sp>
      <p:sp>
        <p:nvSpPr>
          <p:cNvPr id="25" name="Hallazgo 3"/>
          <p:cNvSpPr/>
          <p:nvPr/>
        </p:nvSpPr>
        <p:spPr>
          <a:xfrm>
            <a:off x="548640" y="4709160"/>
            <a:ext cx="4846320" cy="132588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84632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BA3C2B"/>
                </a:solidFill>
                <a:latin typeface="Arial"/>
              </a:rPr>
              <a:t>HALLAZGO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120640"/>
            <a:ext cx="43891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1A2733"/>
                </a:solidFill>
                <a:latin typeface="Arial"/>
              </a:rPr>
              <a:t>Viajar a la clínica y encontrar al médico ausente.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532120" y="5148072"/>
            <a:ext cx="457200" cy="457200"/>
          </a:xfrm>
          <a:prstGeom prst="rightArrow">
            <a:avLst/>
          </a:prstGeom>
          <a:solidFill>
            <a:srgbClr val="9C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ambio 3"/>
          <p:cNvSpPr/>
          <p:nvPr/>
        </p:nvSpPr>
        <p:spPr>
          <a:xfrm>
            <a:off x="6126480" y="4709160"/>
            <a:ext cx="551383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8463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0A62A0"/>
                </a:solidFill>
                <a:latin typeface="Arial"/>
              </a:rPr>
              <a:t>CAMBIO EN EL DISEÑO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02352"/>
            <a:ext cx="507492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La agenda bloquea feriados, carnaval, el 1 de julio y las ausencias: solo ofrece horas reales.</a:t>
            </a:r>
          </a:p>
        </p:txBody>
      </p:sp>
      <p:sp>
        <p:nvSpPr>
          <p:cNvPr id="32" name="Pantallas"/>
          <p:cNvSpPr txBox="1"/>
          <p:nvPr/>
        </p:nvSpPr>
        <p:spPr>
          <a:xfrm>
            <a:off x="6400800" y="569671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0">
                <a:solidFill>
                  <a:srgbClr val="0A62A0"/>
                </a:solidFill>
                <a:latin typeface="Courier New"/>
              </a:rPr>
              <a:t>principal-formulario.html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Wireframes: 11 pantallas y su flujo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INVESTIGACIÓN Y DISEÑO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BA3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DW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Dana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13</a:t>
            </a:r>
          </a:p>
        </p:txBody>
      </p:sp>
      <p:sp>
        <p:nvSpPr>
          <p:cNvPr id="9" name="Dato 1"/>
          <p:cNvSpPr/>
          <p:nvPr/>
        </p:nvSpPr>
        <p:spPr>
          <a:xfrm>
            <a:off x="548640" y="1691640"/>
            <a:ext cx="35661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91440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600" b="1" i="0">
                <a:solidFill>
                  <a:srgbClr val="0A62A0"/>
                </a:solidFill>
                <a:latin typeface="Arial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9164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pantallas de escritorio, con perfil y página de error</a:t>
            </a:r>
          </a:p>
        </p:txBody>
      </p:sp>
      <p:sp>
        <p:nvSpPr>
          <p:cNvPr id="12" name="Dato 2"/>
          <p:cNvSpPr/>
          <p:nvPr/>
        </p:nvSpPr>
        <p:spPr>
          <a:xfrm>
            <a:off x="548640" y="2953512"/>
            <a:ext cx="35661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953512"/>
            <a:ext cx="91440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600" b="1" i="0">
                <a:solidFill>
                  <a:srgbClr val="0A62A0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953512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pantallas móviles, más el menú desplegado</a:t>
            </a:r>
          </a:p>
        </p:txBody>
      </p:sp>
      <p:sp>
        <p:nvSpPr>
          <p:cNvPr id="15" name="Dato 3"/>
          <p:cNvSpPr/>
          <p:nvPr/>
        </p:nvSpPr>
        <p:spPr>
          <a:xfrm>
            <a:off x="548640" y="4215383"/>
            <a:ext cx="35661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215383"/>
            <a:ext cx="91440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600" b="1" i="0">
                <a:solidFill>
                  <a:srgbClr val="0A62A0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215383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roles, cada uno con su flujo de navegación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4068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46372"/>
                </a:solidFill>
                <a:latin typeface="Arial"/>
              </a:rPr>
              <a:t>En escala de grises, con anotaciones de los elementos HTML y de las reglas de negocio.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46372"/>
                </a:solidFill>
                <a:latin typeface="Arial"/>
              </a:rPr>
              <a:t>A la derecha: flujo de navegación por rol (docs/wireframes.pdf, pág. 4).</a:t>
            </a:r>
          </a:p>
        </p:txBody>
      </p:sp>
      <p:sp>
        <p:nvSpPr>
          <p:cNvPr id="19" name="Marco wireframe"/>
          <p:cNvSpPr/>
          <p:nvPr/>
        </p:nvSpPr>
        <p:spPr>
          <a:xfrm>
            <a:off x="4389120" y="1691640"/>
            <a:ext cx="7251192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Flujo de navegación" descr="wf04-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196" y="1737360"/>
            <a:ext cx="6035040" cy="42641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Plan de prueba de usabilidad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INVESTIGACIÓN Y DISEÑO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BA3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DW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Dana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14</a:t>
            </a:r>
          </a:p>
        </p:txBody>
      </p:sp>
      <p:sp>
        <p:nvSpPr>
          <p:cNvPr id="9" name="Diseño de la prueba"/>
          <p:cNvSpPr/>
          <p:nvPr/>
        </p:nvSpPr>
        <p:spPr>
          <a:xfrm>
            <a:off x="548640" y="1691640"/>
            <a:ext cx="36576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320040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A62A0"/>
                </a:solidFill>
                <a:latin typeface="Arial"/>
              </a:rPr>
              <a:t>OBJETIVO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2733"/>
                </a:solidFill>
                <a:latin typeface="Arial"/>
              </a:rPr>
              <a:t>Comprobar que cada rol completa sus tareas y entiende los bloqueos del calendario.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320040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A62A0"/>
                </a:solidFill>
                <a:latin typeface="Arial"/>
              </a:rPr>
              <a:t>MÉTODO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2733"/>
                </a:solidFill>
                <a:latin typeface="Arial"/>
              </a:rPr>
              <a:t>Prueba moderada, pensando en voz alta. Una persona modera y otra anota.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320040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A62A0"/>
                </a:solidFill>
                <a:latin typeface="Arial"/>
              </a:rPr>
              <a:t>PARTICIPANTES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2733"/>
                </a:solidFill>
                <a:latin typeface="Arial"/>
              </a:rPr>
              <a:t>5: tres pacientes, una persona de recepción y un médico.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320040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A62A0"/>
                </a:solidFill>
                <a:latin typeface="Arial"/>
              </a:rPr>
              <a:t>META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2733"/>
                </a:solidFill>
                <a:latin typeface="Arial"/>
              </a:rPr>
              <a:t>SUS ≥ 68 y cada tarea sin ayuda.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480560" y="1691640"/>
          <a:ext cx="7159752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Tarea</a:t>
                      </a:r>
                    </a:p>
                  </a:txBody>
                  <a:tcPr anchor="ctr">
                    <a:solidFill>
                      <a:srgbClr val="07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Rol</a:t>
                      </a:r>
                    </a:p>
                  </a:txBody>
                  <a:tcPr anchor="ctr">
                    <a:solidFill>
                      <a:srgbClr val="07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Consigna</a:t>
                      </a:r>
                    </a:p>
                  </a:txBody>
                  <a:tcPr anchor="ctr">
                    <a:solidFill>
                      <a:srgbClr val="07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Criterio de éxito</a:t>
                      </a:r>
                    </a:p>
                  </a:txBody>
                  <a:tcPr anchor="ctr">
                    <a:solidFill>
                      <a:srgbClr val="073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62A0"/>
                          </a:solidFill>
                          <a:latin typeface="Arial"/>
                        </a:rPr>
                        <a:t>T1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Reservar cardiología con la Dra. Ríos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Sin ayuda en ≤ 3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62A0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Intentar reservar el lunes 8 de febrero</a:t>
                      </a:r>
                    </a:p>
                  </a:txBody>
                  <a:tcPr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Entiende que es carnaval</a:t>
                      </a:r>
                    </a:p>
                  </a:txBody>
                  <a:tcPr anchor="ctr">
                    <a:solidFill>
                      <a:srgbClr val="E7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62A0"/>
                          </a:solidFill>
                          <a:latin typeface="Arial"/>
                        </a:rPr>
                        <a:t>T3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Mover su cita del jueves a otro día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Reprogramada en ≤ 2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62A0"/>
                          </a:solidFill>
                          <a:latin typeface="Arial"/>
                        </a:rPr>
                        <a:t>T4</a:t>
                      </a:r>
                    </a:p>
                  </a:txBody>
                  <a:tcPr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Recuperar la contraseña</a:t>
                      </a:r>
                    </a:p>
                  </a:txBody>
                  <a:tcPr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Llega al paso 3 sola</a:t>
                      </a:r>
                    </a:p>
                  </a:txBody>
                  <a:tcPr anchor="ctr">
                    <a:solidFill>
                      <a:srgbClr val="E7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62A0"/>
                          </a:solidFill>
                          <a:latin typeface="Arial"/>
                        </a:rPr>
                        <a:t>T5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Marcar la llegada de Luis Herrera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«En sala» en ≤ 1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62A0"/>
                          </a:solidFill>
                          <a:latin typeface="Arial"/>
                        </a:rPr>
                        <a:t>T6</a:t>
                      </a:r>
                    </a:p>
                  </a:txBody>
                  <a:tcPr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Registrar la ausencia de la Dra. Ríos</a:t>
                      </a:r>
                    </a:p>
                  </a:txBody>
                  <a:tcPr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Entiende la vista previa</a:t>
                      </a:r>
                    </a:p>
                  </a:txBody>
                  <a:tcPr anchor="ctr">
                    <a:solidFill>
                      <a:srgbClr val="E7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62A0"/>
                          </a:solidFill>
                          <a:latin typeface="Arial"/>
                        </a:rPr>
                        <a:t>T7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Registrar la nota de Pedro Sánchez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Estado «Atendida»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62A0"/>
                          </a:solidFill>
                          <a:latin typeface="Arial"/>
                        </a:rPr>
                        <a:t>T8</a:t>
                      </a:r>
                    </a:p>
                  </a:txBody>
                  <a:tcPr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¿Qué % de citas se canceló en enero?</a:t>
                      </a:r>
                    </a:p>
                  </a:txBody>
                  <a:tcPr anchor="ctr">
                    <a:solidFill>
                      <a:srgbClr val="E7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733"/>
                          </a:solidFill>
                          <a:latin typeface="Arial"/>
                        </a:rPr>
                        <a:t>Responde 6,2 % en ≤ 1 min</a:t>
                      </a:r>
                    </a:p>
                  </a:txBody>
                  <a:tcPr anchor="ctr">
                    <a:solidFill>
                      <a:srgbClr val="E7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Guía de estilo: un sistema visual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INVESTIGACIÓN Y DISEÑO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BA3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DW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Dana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15</a:t>
            </a:r>
          </a:p>
        </p:txBody>
      </p:sp>
      <p:sp>
        <p:nvSpPr>
          <p:cNvPr id="9" name="Color Azul MediAgenda"/>
          <p:cNvSpPr/>
          <p:nvPr/>
        </p:nvSpPr>
        <p:spPr>
          <a:xfrm>
            <a:off x="548640" y="1691640"/>
            <a:ext cx="1179576" cy="868680"/>
          </a:xfrm>
          <a:prstGeom prst="roundRect">
            <a:avLst>
              <a:gd name="adj" fmla="val 12000"/>
            </a:avLst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633472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733"/>
                </a:solidFill>
                <a:latin typeface="Arial"/>
              </a:rPr>
              <a:t>Azul MediAgenda</a:t>
            </a:r>
          </a:p>
          <a:p>
            <a:pPr algn="l"/>
            <a:r>
              <a:rPr sz="1100" b="0" i="0">
                <a:solidFill>
                  <a:srgbClr val="546372"/>
                </a:solidFill>
                <a:latin typeface="Arial"/>
              </a:rPr>
              <a:t>#0A62A0</a:t>
            </a:r>
          </a:p>
        </p:txBody>
      </p:sp>
      <p:sp>
        <p:nvSpPr>
          <p:cNvPr id="11" name="Color Azul profundo"/>
          <p:cNvSpPr/>
          <p:nvPr/>
        </p:nvSpPr>
        <p:spPr>
          <a:xfrm>
            <a:off x="1968703" y="1691640"/>
            <a:ext cx="1179576" cy="868680"/>
          </a:xfrm>
          <a:prstGeom prst="roundRect">
            <a:avLst>
              <a:gd name="adj" fmla="val 12000"/>
            </a:avLst>
          </a:prstGeom>
          <a:solidFill>
            <a:srgbClr val="0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68703" y="2633472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733"/>
                </a:solidFill>
                <a:latin typeface="Arial"/>
              </a:rPr>
              <a:t>Azul profundo</a:t>
            </a:r>
          </a:p>
          <a:p>
            <a:pPr algn="l"/>
            <a:r>
              <a:rPr sz="1100" b="0" i="0">
                <a:solidFill>
                  <a:srgbClr val="546372"/>
                </a:solidFill>
                <a:latin typeface="Arial"/>
              </a:rPr>
              <a:t>#073B63</a:t>
            </a:r>
          </a:p>
        </p:txBody>
      </p:sp>
      <p:sp>
        <p:nvSpPr>
          <p:cNvPr id="13" name="Color Azul oscuro"/>
          <p:cNvSpPr/>
          <p:nvPr/>
        </p:nvSpPr>
        <p:spPr>
          <a:xfrm>
            <a:off x="3388766" y="1691640"/>
            <a:ext cx="1179576" cy="868680"/>
          </a:xfrm>
          <a:prstGeom prst="roundRect">
            <a:avLst>
              <a:gd name="adj" fmla="val 12000"/>
            </a:avLst>
          </a:prstGeom>
          <a:solidFill>
            <a:srgbClr val="084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8766" y="2633472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733"/>
                </a:solidFill>
                <a:latin typeface="Arial"/>
              </a:rPr>
              <a:t>Azul oscuro</a:t>
            </a:r>
          </a:p>
          <a:p>
            <a:pPr algn="l"/>
            <a:r>
              <a:rPr sz="1100" b="0" i="0">
                <a:solidFill>
                  <a:srgbClr val="546372"/>
                </a:solidFill>
                <a:latin typeface="Arial"/>
              </a:rPr>
              <a:t>#084F82</a:t>
            </a:r>
          </a:p>
        </p:txBody>
      </p:sp>
      <p:sp>
        <p:nvSpPr>
          <p:cNvPr id="15" name="Color Azul claro"/>
          <p:cNvSpPr/>
          <p:nvPr/>
        </p:nvSpPr>
        <p:spPr>
          <a:xfrm>
            <a:off x="4808829" y="1691640"/>
            <a:ext cx="1179576" cy="868680"/>
          </a:xfrm>
          <a:prstGeom prst="roundRect">
            <a:avLst>
              <a:gd name="adj" fmla="val 12000"/>
            </a:avLst>
          </a:prstGeom>
          <a:solidFill>
            <a:srgbClr val="9CC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8829" y="2633472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733"/>
                </a:solidFill>
                <a:latin typeface="Arial"/>
              </a:rPr>
              <a:t>Azul claro</a:t>
            </a:r>
          </a:p>
          <a:p>
            <a:pPr algn="l"/>
            <a:r>
              <a:rPr sz="1100" b="0" i="0">
                <a:solidFill>
                  <a:srgbClr val="546372"/>
                </a:solidFill>
                <a:latin typeface="Arial"/>
              </a:rPr>
              <a:t>#9CC3E3</a:t>
            </a:r>
          </a:p>
        </p:txBody>
      </p:sp>
      <p:sp>
        <p:nvSpPr>
          <p:cNvPr id="17" name="Color Azul hielo"/>
          <p:cNvSpPr/>
          <p:nvPr/>
        </p:nvSpPr>
        <p:spPr>
          <a:xfrm>
            <a:off x="6228892" y="1691640"/>
            <a:ext cx="1179576" cy="86868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28892" y="2633472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733"/>
                </a:solidFill>
                <a:latin typeface="Arial"/>
              </a:rPr>
              <a:t>Azul hielo</a:t>
            </a:r>
          </a:p>
          <a:p>
            <a:pPr algn="l"/>
            <a:r>
              <a:rPr sz="1100" b="0" i="0">
                <a:solidFill>
                  <a:srgbClr val="546372"/>
                </a:solidFill>
                <a:latin typeface="Arial"/>
              </a:rPr>
              <a:t>#E7F0F8</a:t>
            </a:r>
          </a:p>
        </p:txBody>
      </p:sp>
      <p:sp>
        <p:nvSpPr>
          <p:cNvPr id="19" name="Color Coral"/>
          <p:cNvSpPr/>
          <p:nvPr/>
        </p:nvSpPr>
        <p:spPr>
          <a:xfrm>
            <a:off x="7648956" y="1691640"/>
            <a:ext cx="1179576" cy="868680"/>
          </a:xfrm>
          <a:prstGeom prst="roundRect">
            <a:avLst>
              <a:gd name="adj" fmla="val 12000"/>
            </a:avLst>
          </a:prstGeom>
          <a:solidFill>
            <a:srgbClr val="F2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48956" y="2633472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733"/>
                </a:solidFill>
                <a:latin typeface="Arial"/>
              </a:rPr>
              <a:t>Coral</a:t>
            </a:r>
          </a:p>
          <a:p>
            <a:pPr algn="l"/>
            <a:r>
              <a:rPr sz="1100" b="0" i="0">
                <a:solidFill>
                  <a:srgbClr val="546372"/>
                </a:solidFill>
                <a:latin typeface="Arial"/>
              </a:rPr>
              <a:t>#F26B5B</a:t>
            </a:r>
          </a:p>
        </p:txBody>
      </p:sp>
      <p:sp>
        <p:nvSpPr>
          <p:cNvPr id="21" name="Color Coral oscuro"/>
          <p:cNvSpPr/>
          <p:nvPr/>
        </p:nvSpPr>
        <p:spPr>
          <a:xfrm>
            <a:off x="9069019" y="1691640"/>
            <a:ext cx="1179576" cy="868680"/>
          </a:xfrm>
          <a:prstGeom prst="roundRect">
            <a:avLst>
              <a:gd name="adj" fmla="val 12000"/>
            </a:avLst>
          </a:prstGeom>
          <a:solidFill>
            <a:srgbClr val="BA3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69019" y="2633472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733"/>
                </a:solidFill>
                <a:latin typeface="Arial"/>
              </a:rPr>
              <a:t>Coral oscuro</a:t>
            </a:r>
          </a:p>
          <a:p>
            <a:pPr algn="l"/>
            <a:r>
              <a:rPr sz="1100" b="0" i="0">
                <a:solidFill>
                  <a:srgbClr val="546372"/>
                </a:solidFill>
                <a:latin typeface="Arial"/>
              </a:rPr>
              <a:t>#BA3C2B</a:t>
            </a:r>
          </a:p>
        </p:txBody>
      </p:sp>
      <p:sp>
        <p:nvSpPr>
          <p:cNvPr id="23" name="Color Rosa claro"/>
          <p:cNvSpPr/>
          <p:nvPr/>
        </p:nvSpPr>
        <p:spPr>
          <a:xfrm>
            <a:off x="10489082" y="1691640"/>
            <a:ext cx="1179576" cy="868680"/>
          </a:xfrm>
          <a:prstGeom prst="roundRect">
            <a:avLst>
              <a:gd name="adj" fmla="val 12000"/>
            </a:avLst>
          </a:prstGeom>
          <a:solidFill>
            <a:srgbClr val="FDECEA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89082" y="2633472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733"/>
                </a:solidFill>
                <a:latin typeface="Arial"/>
              </a:rPr>
              <a:t>Rosa claro</a:t>
            </a:r>
          </a:p>
          <a:p>
            <a:pPr algn="l"/>
            <a:r>
              <a:rPr sz="1100" b="0" i="0">
                <a:solidFill>
                  <a:srgbClr val="546372"/>
                </a:solidFill>
                <a:latin typeface="Arial"/>
              </a:rPr>
              <a:t>#FDECEA</a:t>
            </a:r>
          </a:p>
        </p:txBody>
      </p:sp>
      <p:sp>
        <p:nvSpPr>
          <p:cNvPr id="25" name="Principio Claridad primero"/>
          <p:cNvSpPr/>
          <p:nvPr/>
        </p:nvSpPr>
        <p:spPr>
          <a:xfrm>
            <a:off x="548640" y="3429000"/>
            <a:ext cx="3291840" cy="1161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3538728"/>
            <a:ext cx="288036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73B63"/>
                </a:solidFill>
                <a:latin typeface="Arial"/>
              </a:rPr>
              <a:t>Claridad primero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2733"/>
                </a:solidFill>
                <a:latin typeface="Arial"/>
              </a:rPr>
              <a:t>Una acción principal por pantalla, en español sencillo.</a:t>
            </a:r>
          </a:p>
        </p:txBody>
      </p:sp>
      <p:sp>
        <p:nvSpPr>
          <p:cNvPr id="27" name="Principio Disponible siempre"/>
          <p:cNvSpPr/>
          <p:nvPr/>
        </p:nvSpPr>
        <p:spPr>
          <a:xfrm>
            <a:off x="4114800" y="3429000"/>
            <a:ext cx="3291840" cy="1161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43400" y="3538728"/>
            <a:ext cx="288036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73B63"/>
                </a:solidFill>
                <a:latin typeface="Arial"/>
              </a:rPr>
              <a:t>Disponible siempre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2733"/>
                </a:solidFill>
                <a:latin typeface="Arial"/>
              </a:rPr>
              <a:t>Solo ofrece días y horas que de verdad existen.</a:t>
            </a:r>
          </a:p>
        </p:txBody>
      </p:sp>
      <p:sp>
        <p:nvSpPr>
          <p:cNvPr id="29" name="Principio Accesible para todos"/>
          <p:cNvSpPr/>
          <p:nvPr/>
        </p:nvSpPr>
        <p:spPr>
          <a:xfrm>
            <a:off x="548640" y="4773168"/>
            <a:ext cx="3291840" cy="1161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882896"/>
            <a:ext cx="288036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73B63"/>
                </a:solidFill>
                <a:latin typeface="Arial"/>
              </a:rPr>
              <a:t>Accesible para todos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2733"/>
                </a:solidFill>
                <a:latin typeface="Arial"/>
              </a:rPr>
              <a:t>Contraste AA, foco visible y áreas táctiles de 44 px.</a:t>
            </a:r>
          </a:p>
        </p:txBody>
      </p:sp>
      <p:sp>
        <p:nvSpPr>
          <p:cNvPr id="31" name="Principio Consistente"/>
          <p:cNvSpPr/>
          <p:nvPr/>
        </p:nvSpPr>
        <p:spPr>
          <a:xfrm>
            <a:off x="4114800" y="4773168"/>
            <a:ext cx="3291840" cy="1161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43400" y="4882896"/>
            <a:ext cx="288036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73B63"/>
                </a:solidFill>
                <a:latin typeface="Arial"/>
              </a:rPr>
              <a:t>Consistente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2733"/>
                </a:solidFill>
                <a:latin typeface="Arial"/>
              </a:rPr>
              <a:t>Mismo encabezado, menú y pie en todas las pantallas.</a:t>
            </a:r>
          </a:p>
        </p:txBody>
      </p:sp>
      <p:sp>
        <p:nvSpPr>
          <p:cNvPr id="33" name="Tipografía"/>
          <p:cNvSpPr/>
          <p:nvPr/>
        </p:nvSpPr>
        <p:spPr>
          <a:xfrm>
            <a:off x="7772400" y="3429000"/>
            <a:ext cx="3867912" cy="2505456"/>
          </a:xfrm>
          <a:prstGeom prst="roundRect">
            <a:avLst>
              <a:gd name="adj" fmla="val 6000"/>
            </a:avLst>
          </a:prstGeom>
          <a:solidFill>
            <a:srgbClr val="0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0" y="35661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9CC3E3"/>
                </a:solidFill>
                <a:latin typeface="Arial"/>
              </a:rPr>
              <a:t>TIPOGRAFÍA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79476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800" b="1" i="0">
                <a:solidFill>
                  <a:srgbClr val="FFFFFF"/>
                </a:solidFill>
                <a:latin typeface="Arial"/>
              </a:rPr>
              <a:t>Inter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663440"/>
            <a:ext cx="338328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7F0F8"/>
                </a:solidFill>
                <a:latin typeface="Arial"/>
              </a:rPr>
              <a:t>Regular 400 · Semibold 600 · Bold 700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7F0F8"/>
                </a:solidFill>
                <a:latin typeface="Arial"/>
              </a:rPr>
              <a:t>Espaciado base de 8 px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7F0F8"/>
                </a:solidFill>
                <a:latin typeface="Arial"/>
              </a:rPr>
              <a:t>70 % neutros · 20 % azules · 10 % acento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Maqueta navegable de 12 páginas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MAQUETA HTML5 + CSS3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AG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Alvaro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>
                <a:solidFill>
                  <a:srgbClr val="546372"/>
                </a:solidFill>
                <a:latin typeface="Arial"/>
              </a:rPr>
              <a:t>Páginas enlazadas entre sí, con el mismo encabezado, menú y pie. También incluye perfil, recuperación, error 403/404 y legal.</a:t>
            </a:r>
          </a:p>
        </p:txBody>
      </p:sp>
      <p:pic>
        <p:nvPicPr>
          <p:cNvPr id="10" name="Inicio" descr="ind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2468880" cy="1543050"/>
          </a:xfrm>
          <a:prstGeom prst="rect">
            <a:avLst/>
          </a:prstGeom>
          <a:ln w="9525">
            <a:solidFill>
              <a:srgbClr val="C8D3DD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48640" y="3563874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73B63"/>
                </a:solidFill>
                <a:latin typeface="Arial"/>
              </a:rPr>
              <a:t>Inicio</a:t>
            </a:r>
          </a:p>
          <a:p>
            <a:pPr algn="l"/>
            <a:r>
              <a:rPr sz="1100" b="0" i="0">
                <a:solidFill>
                  <a:srgbClr val="546372"/>
                </a:solidFill>
                <a:latin typeface="Arial"/>
              </a:rPr>
              <a:t>Público</a:t>
            </a:r>
          </a:p>
        </p:txBody>
      </p:sp>
      <p:pic>
        <p:nvPicPr>
          <p:cNvPr id="12" name="Inicio de sesión" descr="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599" y="1965960"/>
            <a:ext cx="2468880" cy="1543050"/>
          </a:xfrm>
          <a:prstGeom prst="rect">
            <a:avLst/>
          </a:prstGeom>
          <a:ln w="9525">
            <a:solidFill>
              <a:srgbClr val="C8D3DD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3422599" y="3563874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73B63"/>
                </a:solidFill>
                <a:latin typeface="Arial"/>
              </a:rPr>
              <a:t>Inicio de sesión</a:t>
            </a:r>
          </a:p>
          <a:p>
            <a:pPr algn="l"/>
            <a:r>
              <a:rPr sz="1100" b="0" i="0">
                <a:solidFill>
                  <a:srgbClr val="546372"/>
                </a:solidFill>
                <a:latin typeface="Arial"/>
              </a:rPr>
              <a:t>Público</a:t>
            </a:r>
          </a:p>
        </p:txBody>
      </p:sp>
      <p:pic>
        <p:nvPicPr>
          <p:cNvPr id="14" name="Registro de paciente" descr="regist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558" y="1965960"/>
            <a:ext cx="2468880" cy="1543050"/>
          </a:xfrm>
          <a:prstGeom prst="rect">
            <a:avLst/>
          </a:prstGeom>
          <a:ln w="9525">
            <a:solidFill>
              <a:srgbClr val="C8D3DD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296558" y="3563874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73B63"/>
                </a:solidFill>
                <a:latin typeface="Arial"/>
              </a:rPr>
              <a:t>Registro de paciente</a:t>
            </a:r>
          </a:p>
          <a:p>
            <a:pPr algn="l"/>
            <a:r>
              <a:rPr sz="1100" b="0" i="0">
                <a:solidFill>
                  <a:srgbClr val="546372"/>
                </a:solidFill>
                <a:latin typeface="Arial"/>
              </a:rPr>
              <a:t>Público</a:t>
            </a:r>
          </a:p>
        </p:txBody>
      </p:sp>
      <p:pic>
        <p:nvPicPr>
          <p:cNvPr id="16" name="Reservar cita" descr="principal-formular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0517" y="1965960"/>
            <a:ext cx="2468880" cy="1543050"/>
          </a:xfrm>
          <a:prstGeom prst="rect">
            <a:avLst/>
          </a:prstGeom>
          <a:ln w="9525">
            <a:solidFill>
              <a:srgbClr val="C8D3DD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9170517" y="3563874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73B63"/>
                </a:solidFill>
                <a:latin typeface="Arial"/>
              </a:rPr>
              <a:t>Reservar cita</a:t>
            </a:r>
          </a:p>
          <a:p>
            <a:pPr algn="l"/>
            <a:r>
              <a:rPr sz="1100" b="0" i="0">
                <a:solidFill>
                  <a:srgbClr val="546372"/>
                </a:solidFill>
                <a:latin typeface="Arial"/>
              </a:rPr>
              <a:t>Paciente</a:t>
            </a:r>
          </a:p>
        </p:txBody>
      </p:sp>
      <p:pic>
        <p:nvPicPr>
          <p:cNvPr id="18" name="Listado de citas" descr="principal-listad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130802"/>
            <a:ext cx="2468880" cy="1543050"/>
          </a:xfrm>
          <a:prstGeom prst="rect">
            <a:avLst/>
          </a:prstGeom>
          <a:ln w="9525">
            <a:solidFill>
              <a:srgbClr val="C8D3DD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48640" y="5728716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73B63"/>
                </a:solidFill>
                <a:latin typeface="Arial"/>
              </a:rPr>
              <a:t>Listado de citas</a:t>
            </a:r>
          </a:p>
          <a:p>
            <a:pPr algn="l"/>
            <a:r>
              <a:rPr sz="1100" b="0" i="0">
                <a:solidFill>
                  <a:srgbClr val="546372"/>
                </a:solidFill>
                <a:latin typeface="Arial"/>
              </a:rPr>
              <a:t>Recepción</a:t>
            </a:r>
          </a:p>
        </p:txBody>
      </p:sp>
      <p:pic>
        <p:nvPicPr>
          <p:cNvPr id="20" name="Detalle y nota" descr="principal-detal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2599" y="4130802"/>
            <a:ext cx="2468880" cy="1543050"/>
          </a:xfrm>
          <a:prstGeom prst="rect">
            <a:avLst/>
          </a:prstGeom>
          <a:ln w="9525">
            <a:solidFill>
              <a:srgbClr val="C8D3DD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3422599" y="5728716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73B63"/>
                </a:solidFill>
                <a:latin typeface="Arial"/>
              </a:rPr>
              <a:t>Detalle y nota</a:t>
            </a:r>
          </a:p>
          <a:p>
            <a:pPr algn="l"/>
            <a:r>
              <a:rPr sz="1100" b="0" i="0">
                <a:solidFill>
                  <a:srgbClr val="546372"/>
                </a:solidFill>
                <a:latin typeface="Arial"/>
              </a:rPr>
              <a:t>Médico</a:t>
            </a:r>
          </a:p>
        </p:txBody>
      </p:sp>
      <p:pic>
        <p:nvPicPr>
          <p:cNvPr id="22" name="Horario y ausencias" descr="secundaria-formulari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6558" y="4130802"/>
            <a:ext cx="2468880" cy="1543050"/>
          </a:xfrm>
          <a:prstGeom prst="rect">
            <a:avLst/>
          </a:prstGeom>
          <a:ln w="9525">
            <a:solidFill>
              <a:srgbClr val="C8D3DD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6296558" y="5728716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73B63"/>
                </a:solidFill>
                <a:latin typeface="Arial"/>
              </a:rPr>
              <a:t>Horario y ausencias</a:t>
            </a:r>
          </a:p>
          <a:p>
            <a:pPr algn="l"/>
            <a:r>
              <a:rPr sz="1100" b="0" i="0">
                <a:solidFill>
                  <a:srgbClr val="546372"/>
                </a:solidFill>
                <a:latin typeface="Arial"/>
              </a:rPr>
              <a:t>Administrador</a:t>
            </a:r>
          </a:p>
        </p:txBody>
      </p:sp>
      <p:pic>
        <p:nvPicPr>
          <p:cNvPr id="24" name="Panel de administración" descr="pane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0517" y="4130802"/>
            <a:ext cx="2468880" cy="1543050"/>
          </a:xfrm>
          <a:prstGeom prst="rect">
            <a:avLst/>
          </a:prstGeom>
          <a:ln w="9525">
            <a:solidFill>
              <a:srgbClr val="C8D3DD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9170517" y="5728716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73B63"/>
                </a:solidFill>
                <a:latin typeface="Arial"/>
              </a:rPr>
              <a:t>Panel de administración</a:t>
            </a:r>
          </a:p>
          <a:p>
            <a:pPr algn="l"/>
            <a:r>
              <a:rPr sz="1100" b="0" i="0">
                <a:solidFill>
                  <a:srgbClr val="546372"/>
                </a:solidFill>
                <a:latin typeface="Arial"/>
              </a:rPr>
              <a:t>Administrador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Pantalla clave: Reservar cita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MAQUETA HTML5 + CSS3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AG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Alvaro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17</a:t>
            </a:r>
          </a:p>
        </p:txBody>
      </p:sp>
      <p:pic>
        <p:nvPicPr>
          <p:cNvPr id="9" name="Captura Reservar cita" descr="form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4983480" cy="4438411"/>
          </a:xfrm>
          <a:prstGeom prst="rect">
            <a:avLst/>
          </a:prstGeom>
          <a:ln w="9525">
            <a:solidFill>
              <a:srgbClr val="C8D3DD"/>
            </a:solidFill>
          </a:ln>
        </p:spPr>
      </p:pic>
      <p:sp>
        <p:nvSpPr>
          <p:cNvPr id="10" name="Oval 9"/>
          <p:cNvSpPr/>
          <p:nvPr/>
        </p:nvSpPr>
        <p:spPr>
          <a:xfrm>
            <a:off x="665726" y="5150215"/>
            <a:ext cx="310896" cy="310896"/>
          </a:xfrm>
          <a:prstGeom prst="ellipse">
            <a:avLst/>
          </a:prstGeom>
          <a:solidFill>
            <a:srgbClr val="F2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626792" y="3106209"/>
            <a:ext cx="310896" cy="310896"/>
          </a:xfrm>
          <a:prstGeom prst="ellipse">
            <a:avLst/>
          </a:prstGeom>
          <a:solidFill>
            <a:srgbClr val="F2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916668" y="5013948"/>
            <a:ext cx="310896" cy="310896"/>
          </a:xfrm>
          <a:prstGeom prst="ellipse">
            <a:avLst/>
          </a:prstGeom>
          <a:solidFill>
            <a:srgbClr val="F2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104137" y="3518904"/>
            <a:ext cx="310896" cy="310896"/>
          </a:xfrm>
          <a:prstGeom prst="ellipse">
            <a:avLst/>
          </a:prstGeom>
          <a:solidFill>
            <a:srgbClr val="F2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Detalle 1"/>
          <p:cNvSpPr/>
          <p:nvPr/>
        </p:nvSpPr>
        <p:spPr>
          <a:xfrm>
            <a:off x="5852160" y="1691640"/>
            <a:ext cx="578815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035040" y="1965960"/>
            <a:ext cx="411480" cy="411480"/>
          </a:xfrm>
          <a:prstGeom prst="ellipse">
            <a:avLst/>
          </a:prstGeom>
          <a:solidFill>
            <a:srgbClr val="F2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78308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73B63"/>
                </a:solidFill>
                <a:latin typeface="Arial"/>
              </a:rPr>
              <a:t>Calendario que bloquea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2733"/>
                </a:solidFill>
                <a:latin typeface="Arial"/>
              </a:rPr>
              <a:t>Carnaval (8 y 9 feb), ausencias del médico, días sin cupo y domingos se ven bloqueados y explican el motivo.</a:t>
            </a:r>
          </a:p>
        </p:txBody>
      </p:sp>
      <p:sp>
        <p:nvSpPr>
          <p:cNvPr id="17" name="Detalle 2"/>
          <p:cNvSpPr/>
          <p:nvPr/>
        </p:nvSpPr>
        <p:spPr>
          <a:xfrm>
            <a:off x="5852160" y="2816352"/>
            <a:ext cx="578815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035040" y="3090672"/>
            <a:ext cx="411480" cy="411480"/>
          </a:xfrm>
          <a:prstGeom prst="ellipse">
            <a:avLst/>
          </a:prstGeom>
          <a:solidFill>
            <a:srgbClr val="F2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907792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73B63"/>
                </a:solidFill>
                <a:latin typeface="Arial"/>
              </a:rPr>
              <a:t>N.º de expediente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2733"/>
                </a:solidFill>
                <a:latin typeface="Arial"/>
              </a:rPr>
              <a:t>Campo especial: exactamente 6 dígitos con pattern, minlength y maxlength.</a:t>
            </a:r>
          </a:p>
        </p:txBody>
      </p:sp>
      <p:sp>
        <p:nvSpPr>
          <p:cNvPr id="20" name="Detalle 3"/>
          <p:cNvSpPr/>
          <p:nvPr/>
        </p:nvSpPr>
        <p:spPr>
          <a:xfrm>
            <a:off x="5852160" y="3941064"/>
            <a:ext cx="578815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035040" y="4215384"/>
            <a:ext cx="411480" cy="411480"/>
          </a:xfrm>
          <a:prstGeom prst="ellipse">
            <a:avLst/>
          </a:prstGeom>
          <a:solidFill>
            <a:srgbClr val="F2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032504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73B63"/>
                </a:solidFill>
                <a:latin typeface="Arial"/>
              </a:rPr>
              <a:t>Regla de 24 horas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2733"/>
                </a:solidFill>
                <a:latin typeface="Arial"/>
              </a:rPr>
              <a:t>El paciente solo puede reservar con al menos 24 h de anticipación.</a:t>
            </a:r>
          </a:p>
        </p:txBody>
      </p:sp>
      <p:sp>
        <p:nvSpPr>
          <p:cNvPr id="23" name="Detalle 4"/>
          <p:cNvSpPr/>
          <p:nvPr/>
        </p:nvSpPr>
        <p:spPr>
          <a:xfrm>
            <a:off x="5852160" y="5065776"/>
            <a:ext cx="578815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035040" y="5340096"/>
            <a:ext cx="411480" cy="411480"/>
          </a:xfrm>
          <a:prstGeom prst="ellipse">
            <a:avLst/>
          </a:prstGeom>
          <a:solidFill>
            <a:srgbClr val="F2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157216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73B63"/>
                </a:solidFill>
                <a:latin typeface="Arial"/>
              </a:rPr>
              <a:t>Un solo botón primario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2733"/>
                </a:solidFill>
                <a:latin typeface="Arial"/>
              </a:rPr>
              <a:t>«Confirmar cita» vive en el resumen, como pide la guía de estilo.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HTML5 semántico y CSS3 adaptable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MAQUETA HTML5 + CSS3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AG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Alvaro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18</a:t>
            </a:r>
          </a:p>
        </p:txBody>
      </p:sp>
      <p:sp>
        <p:nvSpPr>
          <p:cNvPr id="9" name="Dato páginas HTML"/>
          <p:cNvSpPr/>
          <p:nvPr/>
        </p:nvSpPr>
        <p:spPr>
          <a:xfrm>
            <a:off x="548640" y="1691640"/>
            <a:ext cx="21031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400" b="1" i="0">
                <a:solidFill>
                  <a:srgbClr val="0A62A0"/>
                </a:solidFill>
                <a:latin typeface="Arial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páginas HTML</a:t>
            </a:r>
          </a:p>
        </p:txBody>
      </p:sp>
      <p:sp>
        <p:nvSpPr>
          <p:cNvPr id="12" name="Dato formularios"/>
          <p:cNvSpPr/>
          <p:nvPr/>
        </p:nvSpPr>
        <p:spPr>
          <a:xfrm>
            <a:off x="2880360" y="1691640"/>
            <a:ext cx="21031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18288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400" b="1" i="0">
                <a:solidFill>
                  <a:srgbClr val="0A62A0"/>
                </a:solidFill>
                <a:latin typeface="Arial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49631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formularios</a:t>
            </a:r>
          </a:p>
        </p:txBody>
      </p:sp>
      <p:sp>
        <p:nvSpPr>
          <p:cNvPr id="15" name="Dato tipos de entrada"/>
          <p:cNvSpPr/>
          <p:nvPr/>
        </p:nvSpPr>
        <p:spPr>
          <a:xfrm>
            <a:off x="5212079" y="1691640"/>
            <a:ext cx="21031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40679" y="18288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400" b="1" i="0">
                <a:solidFill>
                  <a:srgbClr val="0A62A0"/>
                </a:solidFill>
                <a:latin typeface="Arial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79" y="249631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tipos de entrada</a:t>
            </a:r>
          </a:p>
        </p:txBody>
      </p:sp>
      <p:sp>
        <p:nvSpPr>
          <p:cNvPr id="18" name="Dato hoja de estilos externa"/>
          <p:cNvSpPr/>
          <p:nvPr/>
        </p:nvSpPr>
        <p:spPr>
          <a:xfrm>
            <a:off x="548640" y="3291840"/>
            <a:ext cx="21031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4290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400" b="1" i="0">
                <a:solidFill>
                  <a:srgbClr val="0A62A0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9651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hoja de estilos externa</a:t>
            </a:r>
          </a:p>
        </p:txBody>
      </p:sp>
      <p:sp>
        <p:nvSpPr>
          <p:cNvPr id="21" name="Dato líneas de CSS"/>
          <p:cNvSpPr/>
          <p:nvPr/>
        </p:nvSpPr>
        <p:spPr>
          <a:xfrm>
            <a:off x="2880360" y="3291840"/>
            <a:ext cx="21031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08960" y="34290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400" b="1" i="0">
                <a:solidFill>
                  <a:srgbClr val="0A62A0"/>
                </a:solidFill>
                <a:latin typeface="Arial"/>
              </a:rPr>
              <a:t>1 518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09651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líneas de CSS</a:t>
            </a:r>
          </a:p>
        </p:txBody>
      </p:sp>
      <p:sp>
        <p:nvSpPr>
          <p:cNvPr id="24" name="Dato puntos de quiebre"/>
          <p:cNvSpPr/>
          <p:nvPr/>
        </p:nvSpPr>
        <p:spPr>
          <a:xfrm>
            <a:off x="5212079" y="3291840"/>
            <a:ext cx="21031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40679" y="34290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400" b="1" i="0">
                <a:solidFill>
                  <a:srgbClr val="0A62A0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79" y="409651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1A2733"/>
                </a:solidFill>
                <a:latin typeface="Arial"/>
              </a:rPr>
              <a:t>puntos de quiebre</a:t>
            </a:r>
          </a:p>
        </p:txBody>
      </p:sp>
      <p:sp>
        <p:nvSpPr>
          <p:cNvPr id="27" name="Etiquetas"/>
          <p:cNvSpPr/>
          <p:nvPr/>
        </p:nvSpPr>
        <p:spPr>
          <a:xfrm>
            <a:off x="548640" y="4892040"/>
            <a:ext cx="6766560" cy="114300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892040"/>
            <a:ext cx="6309360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73B63"/>
                </a:solidFill>
                <a:latin typeface="Arial"/>
              </a:rPr>
              <a:t>Semántica: </a:t>
            </a:r>
            <a:r>
              <a:rPr sz="1300" b="0" i="0">
                <a:solidFill>
                  <a:srgbClr val="073B63"/>
                </a:solidFill>
                <a:latin typeface="Arial"/>
              </a:rPr>
              <a:t>header, nav, main, section, article, aside, footer; tablas con caption y th scope.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73B63"/>
                </a:solidFill>
                <a:latin typeface="Arial"/>
              </a:rPr>
              <a:t>CSS3: </a:t>
            </a:r>
            <a:r>
              <a:rPr sz="1300" b="0" i="0">
                <a:solidFill>
                  <a:srgbClr val="073B63"/>
                </a:solidFill>
                <a:latin typeface="Arial"/>
              </a:rPr>
              <a:t>Flexbox y Grid; menú plegable y tabla de citas en tarjetas en móvil.</a:t>
            </a:r>
          </a:p>
        </p:txBody>
      </p:sp>
      <p:pic>
        <p:nvPicPr>
          <p:cNvPr id="29" name="Inicio en móvil" descr="m5-ind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691640"/>
            <a:ext cx="1874519" cy="3749039"/>
          </a:xfrm>
          <a:prstGeom prst="rect">
            <a:avLst/>
          </a:prstGeom>
          <a:ln w="9525">
            <a:solidFill>
              <a:srgbClr val="C8D3DD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7772400" y="5504688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 i="0">
                <a:solidFill>
                  <a:srgbClr val="073B63"/>
                </a:solidFill>
                <a:latin typeface="Arial"/>
              </a:rPr>
              <a:t>Inicio en móvil</a:t>
            </a:r>
          </a:p>
        </p:txBody>
      </p:sp>
      <p:pic>
        <p:nvPicPr>
          <p:cNvPr id="31" name="Citas en móvil" descr="m5-principal-list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1512" y="1691640"/>
            <a:ext cx="1874519" cy="3749039"/>
          </a:xfrm>
          <a:prstGeom prst="rect">
            <a:avLst/>
          </a:prstGeom>
          <a:ln w="9525">
            <a:solidFill>
              <a:srgbClr val="C8D3DD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9811512" y="5504688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 i="0">
                <a:solidFill>
                  <a:srgbClr val="073B63"/>
                </a:solidFill>
                <a:latin typeface="Arial"/>
              </a:rPr>
              <a:t>Citas en móvil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Validación W3C: 0 errores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CALIDAD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AG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Alvaro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19</a:t>
            </a:r>
          </a:p>
        </p:txBody>
      </p:sp>
      <p:sp>
        <p:nvSpPr>
          <p:cNvPr id="9" name="Html · Nu Html Checker"/>
          <p:cNvSpPr/>
          <p:nvPr/>
        </p:nvSpPr>
        <p:spPr>
          <a:xfrm>
            <a:off x="548640" y="1691640"/>
            <a:ext cx="539496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874519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HTML · NU HTML CHECKER</a:t>
            </a:r>
          </a:p>
        </p:txBody>
      </p:sp>
      <p:pic>
        <p:nvPicPr>
          <p:cNvPr id="11" name="Picture 10" descr="exi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2286000"/>
            <a:ext cx="548640" cy="548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08760" y="219456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400" b="1" i="0">
                <a:solidFill>
                  <a:srgbClr val="1F7A4D"/>
                </a:solidFill>
                <a:latin typeface="Arial"/>
              </a:rPr>
              <a:t>0 errores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803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546372"/>
                </a:solidFill>
                <a:latin typeface="Arial"/>
              </a:rPr>
              <a:t>12 páginas validadas</a:t>
            </a:r>
          </a:p>
        </p:txBody>
      </p:sp>
      <p:pic>
        <p:nvPicPr>
          <p:cNvPr id="14" name="Captura HTML · NU HTML CHECKER" descr="val-htm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3337560"/>
            <a:ext cx="4846320" cy="1501072"/>
          </a:xfrm>
          <a:prstGeom prst="rect">
            <a:avLst/>
          </a:prstGeom>
          <a:ln w="9525">
            <a:solidFill>
              <a:srgbClr val="C8D3DD"/>
            </a:solidFill>
          </a:ln>
        </p:spPr>
      </p:pic>
      <p:sp>
        <p:nvSpPr>
          <p:cNvPr id="15" name="Css · Validador Css Del W3C"/>
          <p:cNvSpPr/>
          <p:nvPr/>
        </p:nvSpPr>
        <p:spPr>
          <a:xfrm>
            <a:off x="6245352" y="1691640"/>
            <a:ext cx="539496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1874519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CSS · VALIDADOR CSS DEL W3C</a:t>
            </a:r>
          </a:p>
        </p:txBody>
      </p:sp>
      <p:pic>
        <p:nvPicPr>
          <p:cNvPr id="17" name="Picture 16" descr="exi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286000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05472" y="219456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400" b="1" i="0">
                <a:solidFill>
                  <a:srgbClr val="1F7A4D"/>
                </a:solidFill>
                <a:latin typeface="Arial"/>
              </a:rPr>
              <a:t>0 errores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28803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546372"/>
                </a:solidFill>
                <a:latin typeface="Arial"/>
              </a:rPr>
              <a:t>css/estilos.css, perfil CSS3</a:t>
            </a:r>
          </a:p>
        </p:txBody>
      </p:sp>
      <p:pic>
        <p:nvPicPr>
          <p:cNvPr id="20" name="Captura CSS · VALIDADOR CSS DEL W3C" descr="val-c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3337560"/>
            <a:ext cx="4846320" cy="1500727"/>
          </a:xfrm>
          <a:prstGeom prst="rect">
            <a:avLst/>
          </a:prstGeom>
          <a:ln w="9525">
            <a:solidFill>
              <a:srgbClr val="C8D3DD"/>
            </a:solidFill>
          </a:ln>
        </p:spPr>
      </p:pic>
      <p:sp>
        <p:nvSpPr>
          <p:cNvPr id="21" name="Accesibilidad"/>
          <p:cNvSpPr/>
          <p:nvPr/>
        </p:nvSpPr>
        <p:spPr>
          <a:xfrm>
            <a:off x="548640" y="548640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>
                <a:solidFill>
                  <a:srgbClr val="073B63"/>
                </a:solidFill>
                <a:latin typeface="Arial"/>
              </a:rPr>
              <a:t>Accesibilidad: </a:t>
            </a:r>
            <a:r>
              <a:rPr sz="1300" b="0" i="0">
                <a:solidFill>
                  <a:srgbClr val="073B63"/>
                </a:solidFill>
                <a:latin typeface="Arial"/>
              </a:rPr>
              <a:t>imágenes con alt, label en cada campo, foco visible, contraste AA y estados con ícono + texto.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9144000" cy="685800"/>
          </a:xfrm>
        </p:spPr>
        <p:txBody>
          <a:bodyPr wrap="square" lIns="0" tIns="0" rIns="0" bIns="0" anchor="t"/>
          <a:lstStyle/>
          <a:p>
            <a:pPr algn="l"/>
            <a:r>
              <a:rPr sz="2800" b="1" i="0">
                <a:solidFill>
                  <a:srgbClr val="073B63"/>
                </a:solidFill>
                <a:latin typeface="Arial"/>
              </a:rPr>
              <a:t>Próximos pasos del Hito 1</a:t>
            </a:r>
          </a:p>
        </p:txBody>
      </p:sp>
      <p:sp>
        <p:nvSpPr>
          <p:cNvPr id="3" name="Antetítulo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A62A0"/>
                </a:solidFill>
                <a:latin typeface="Arial"/>
              </a:rPr>
              <a:t>CIERRE</a:t>
            </a:r>
          </a:p>
        </p:txBody>
      </p:sp>
      <p:sp>
        <p:nvSpPr>
          <p:cNvPr id="4" name="Expositor"/>
          <p:cNvSpPr/>
          <p:nvPr/>
        </p:nvSpPr>
        <p:spPr>
          <a:xfrm>
            <a:off x="9765792" y="384048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38944" y="438912"/>
            <a:ext cx="347472" cy="347472"/>
          </a:xfrm>
          <a:prstGeom prst="ellipse">
            <a:avLst/>
          </a:prstGeom>
          <a:solidFill>
            <a:srgbClr val="0A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BC</a:t>
            </a:r>
          </a:p>
        </p:txBody>
      </p:sp>
      <p:sp>
        <p:nvSpPr>
          <p:cNvPr id="6" name="Nombre expositor"/>
          <p:cNvSpPr txBox="1"/>
          <p:nvPr/>
        </p:nvSpPr>
        <p:spPr>
          <a:xfrm>
            <a:off x="10259568" y="42976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546372"/>
                </a:solidFill>
                <a:latin typeface="Arial"/>
              </a:rPr>
              <a:t>Presenta</a:t>
            </a:r>
          </a:p>
          <a:p>
            <a:pPr algn="l"/>
            <a:r>
              <a:rPr sz="1200" b="1" i="0">
                <a:solidFill>
                  <a:srgbClr val="1A2733"/>
                </a:solidFill>
                <a:latin typeface="Arial"/>
              </a:rPr>
              <a:t>Benjamin</a:t>
            </a:r>
          </a:p>
        </p:txBody>
      </p:sp>
      <p:sp>
        <p:nvSpPr>
          <p:cNvPr id="7" name="Pie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546372"/>
                </a:solidFill>
                <a:latin typeface="Arial"/>
              </a:rPr>
              <a:t>MediAgenda · Hito 1 · Equipo 05</a:t>
            </a:r>
          </a:p>
        </p:txBody>
      </p:sp>
      <p:sp>
        <p:nvSpPr>
          <p:cNvPr id="8" name="Número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546372"/>
                </a:solidFill>
                <a:latin typeface="Arial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546372"/>
                </a:solidFill>
                <a:latin typeface="Arial"/>
              </a:rPr>
              <a:t>PESO DE CADA ENTREGA EN EL HITO</a:t>
            </a:r>
          </a:p>
        </p:txBody>
      </p:sp>
      <p:sp>
        <p:nvSpPr>
          <p:cNvPr id="10" name="Barra 3%"/>
          <p:cNvSpPr/>
          <p:nvPr/>
        </p:nvSpPr>
        <p:spPr>
          <a:xfrm>
            <a:off x="548640" y="1965960"/>
            <a:ext cx="296174" cy="457200"/>
          </a:xfrm>
          <a:prstGeom prst="rect">
            <a:avLst/>
          </a:prstGeom>
          <a:solidFill>
            <a:srgbClr val="F2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arra 50%"/>
          <p:cNvSpPr/>
          <p:nvPr/>
        </p:nvSpPr>
        <p:spPr>
          <a:xfrm>
            <a:off x="881390" y="1965960"/>
            <a:ext cx="5509260" cy="457200"/>
          </a:xfrm>
          <a:prstGeom prst="rect">
            <a:avLst/>
          </a:prstGeom>
          <a:solidFill>
            <a:srgbClr val="084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arra 47%"/>
          <p:cNvSpPr/>
          <p:nvPr/>
        </p:nvSpPr>
        <p:spPr>
          <a:xfrm>
            <a:off x="6427226" y="1965960"/>
            <a:ext cx="5176509" cy="457200"/>
          </a:xfrm>
          <a:prstGeom prst="rect">
            <a:avLst/>
          </a:prstGeom>
          <a:solidFill>
            <a:srgbClr val="0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ase Fase inicial"/>
          <p:cNvSpPr/>
          <p:nvPr/>
        </p:nvSpPr>
        <p:spPr>
          <a:xfrm>
            <a:off x="548640" y="2743200"/>
            <a:ext cx="351129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288036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BA3C2B"/>
                </a:solidFill>
                <a:latin typeface="Arial"/>
              </a:rPr>
              <a:t>3 %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611880"/>
            <a:ext cx="301752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46372"/>
                </a:solidFill>
                <a:latin typeface="Arial"/>
              </a:rPr>
              <a:t>ESTA ENTREGA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73B63"/>
                </a:solidFill>
                <a:latin typeface="Arial"/>
              </a:rPr>
              <a:t>Fase inicial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2733"/>
                </a:solidFill>
                <a:latin typeface="Arial"/>
              </a:rPr>
              <a:t>Kickoff: alcance, roles, módulos, entidades, wireframes, guía y maqueta.</a:t>
            </a:r>
          </a:p>
        </p:txBody>
      </p:sp>
      <p:sp>
        <p:nvSpPr>
          <p:cNvPr id="16" name="Fase Entrega parcial"/>
          <p:cNvSpPr/>
          <p:nvPr/>
        </p:nvSpPr>
        <p:spPr>
          <a:xfrm>
            <a:off x="4338827" y="2743200"/>
            <a:ext cx="351129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3147" y="288036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0A62A0"/>
                </a:solidFill>
                <a:latin typeface="Arial"/>
              </a:rPr>
              <a:t>50 %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3147" y="3611880"/>
            <a:ext cx="301752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46372"/>
                </a:solidFill>
                <a:latin typeface="Arial"/>
              </a:rPr>
              <a:t>SIGUIENTE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73B63"/>
                </a:solidFill>
                <a:latin typeface="Arial"/>
              </a:rPr>
              <a:t>Entrega parcial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2733"/>
                </a:solidFill>
                <a:latin typeface="Arial"/>
              </a:rPr>
              <a:t>Avance del sistema según lo definido en el kickoff.</a:t>
            </a:r>
          </a:p>
        </p:txBody>
      </p:sp>
      <p:sp>
        <p:nvSpPr>
          <p:cNvPr id="19" name="Fase Entrega final"/>
          <p:cNvSpPr/>
          <p:nvPr/>
        </p:nvSpPr>
        <p:spPr>
          <a:xfrm>
            <a:off x="8129015" y="2743200"/>
            <a:ext cx="351129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03336" y="288036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600" b="1" i="0">
                <a:solidFill>
                  <a:srgbClr val="0A62A0"/>
                </a:solidFill>
                <a:latin typeface="Arial"/>
              </a:rPr>
              <a:t>47 %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3611880"/>
            <a:ext cx="301752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46372"/>
                </a:solidFill>
                <a:latin typeface="Arial"/>
              </a:rPr>
              <a:t>CIERRE DEL HITO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73B63"/>
                </a:solidFill>
                <a:latin typeface="Arial"/>
              </a:rPr>
              <a:t>Entrega final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2733"/>
                </a:solidFill>
                <a:latin typeface="Arial"/>
              </a:rPr>
              <a:t>Sistema completo con los cinco módulos.</a:t>
            </a:r>
          </a:p>
        </p:txBody>
      </p:sp>
      <p:sp>
        <p:nvSpPr>
          <p:cNvPr id="22" name="Pendientes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73B63"/>
                </a:solidFill>
                <a:latin typeface="Arial"/>
              </a:rPr>
              <a:t>Próximo: </a:t>
            </a:r>
            <a:r>
              <a:rPr sz="1300" b="0" i="0">
                <a:solidFill>
                  <a:srgbClr val="073B63"/>
                </a:solidFill>
                <a:latin typeface="Arial"/>
              </a:rPr>
              <a:t>aplicar la prueba de usabilidad con 5 participantes y completar bitácora y matriz de responsabilidad.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546372"/>
                </a:solidFill>
                <a:latin typeface="Arial"/>
              </a:rPr>
              <a:t>Uso de IA: </a:t>
            </a:r>
            <a:r>
              <a:rPr sz="1300" b="0" i="0">
                <a:solidFill>
                  <a:srgbClr val="546372"/>
                </a:solidFill>
                <a:latin typeface="Arial"/>
              </a:rPr>
              <a:t>Qwen, solo como asistente de auditoría de la rúbrica y de accesibilidad.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B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6012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1945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0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800" b="0" i="0">
                <a:solidFill>
                  <a:srgbClr val="9CC3E3"/>
                </a:solidFill>
                <a:latin typeface="Arial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60350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9CC3E3"/>
                </a:solidFill>
                <a:latin typeface="Arial"/>
              </a:rPr>
              <a:t>Demo: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abra index.html en el navegador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9CC3E3"/>
                </a:solidFill>
                <a:latin typeface="Arial"/>
              </a:rPr>
              <a:t>Repositorio: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github.com/bconcepcion1376/proyecto-semestral-eq05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9CC3E3"/>
                </a:solidFill>
                <a:latin typeface="Arial"/>
              </a:rPr>
              <a:t>Equipo 05 · Clínicas Minimed, Ciudad de Panamá</a:t>
            </a:r>
          </a:p>
        </p:txBody>
      </p:sp>
      <p:pic>
        <p:nvPicPr>
          <p:cNvPr id="7" name="Ilustración" descr="hero-clini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691640"/>
            <a:ext cx="4846320" cy="34619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ediAgenda">
  <a:themeElements>
    <a:clrScheme name="MediAgenda">
      <a:dk1>
        <a:srgbClr val="1A2733"/>
      </a:dk1>
      <a:lt1>
        <a:srgbClr val="FFFFFF"/>
      </a:lt1>
      <a:dk2>
        <a:srgbClr val="073B63"/>
      </a:dk2>
      <a:lt2>
        <a:srgbClr val="F4F7FA"/>
      </a:lt2>
      <a:accent1>
        <a:srgbClr val="0A62A0"/>
      </a:accent1>
      <a:accent2>
        <a:srgbClr val="F26B5B"/>
      </a:accent2>
      <a:accent3>
        <a:srgbClr val="084F82"/>
      </a:accent3>
      <a:accent4>
        <a:srgbClr val="9CC3E3"/>
      </a:accent4>
      <a:accent5>
        <a:srgbClr val="1F7A4D"/>
      </a:accent5>
      <a:accent6>
        <a:srgbClr val="BA3C2B"/>
      </a:accent6>
      <a:hlink>
        <a:srgbClr val="0A62A0"/>
      </a:hlink>
      <a:folHlink>
        <a:srgbClr val="084F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4745</Words>
  <Application>Microsoft Office PowerPoint</Application>
  <PresentationFormat>Panorámica</PresentationFormat>
  <Paragraphs>651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MediAgenda</vt:lpstr>
      <vt:lpstr>Presentación de PowerPoint</vt:lpstr>
      <vt:lpstr>Equipo 05 y orden de presentación</vt:lpstr>
      <vt:lpstr>Hoy, una cita depende del papel</vt:lpstr>
      <vt:lpstr>MediAgenda: citas en línea 24/7</vt:lpstr>
      <vt:lpstr>Cuatro roles, una tarea clara cada uno</vt:lpstr>
      <vt:lpstr>Cinco módulos cubren todo el ciclo</vt:lpstr>
      <vt:lpstr>El recorrido de una cita</vt:lpstr>
      <vt:lpstr>Si el médico falta, se reagenda en bloque</vt:lpstr>
      <vt:lpstr>Diez entidades de datos</vt:lpstr>
      <vt:lpstr>Reglas del proyecto y alcance</vt:lpstr>
      <vt:lpstr>Escuchamos a una paciente real</vt:lpstr>
      <vt:lpstr>Tres hallazgos cambiaron el diseño</vt:lpstr>
      <vt:lpstr>Wireframes: 11 pantallas y su flujo</vt:lpstr>
      <vt:lpstr>Plan de prueba de usabilidad</vt:lpstr>
      <vt:lpstr>Guía de estilo: un sistema visual</vt:lpstr>
      <vt:lpstr>Maqueta navegable de 12 páginas</vt:lpstr>
      <vt:lpstr>Pantalla clave: Reservar cita</vt:lpstr>
      <vt:lpstr>HTML5 semántico y CSS3 adaptable</vt:lpstr>
      <vt:lpstr>Validación W3C: 0 errores</vt:lpstr>
      <vt:lpstr>Próximos pasos del Hito 1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MediAgenda – Hito 1</dc:title>
  <dc:subject/>
  <dc:creator>Equipo 05</dc:creator>
  <cp:keywords/>
  <dc:description>generated using python-pptx</dc:description>
  <cp:lastModifiedBy>Benjamin Concepcion</cp:lastModifiedBy>
  <cp:revision>2</cp:revision>
  <dcterms:created xsi:type="dcterms:W3CDTF">2013-01-27T09:14:16Z</dcterms:created>
  <dcterms:modified xsi:type="dcterms:W3CDTF">2026-10-20T16:59:27Z</dcterms:modified>
  <cp:category/>
</cp:coreProperties>
</file>